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521" r:id="rId2"/>
    <p:sldId id="522" r:id="rId3"/>
    <p:sldId id="523" r:id="rId4"/>
    <p:sldId id="524" r:id="rId5"/>
    <p:sldId id="525" r:id="rId6"/>
    <p:sldId id="526" r:id="rId7"/>
    <p:sldId id="527" r:id="rId8"/>
    <p:sldId id="528" r:id="rId9"/>
    <p:sldId id="529" r:id="rId10"/>
    <p:sldId id="530" r:id="rId11"/>
    <p:sldId id="531" r:id="rId12"/>
    <p:sldId id="532" r:id="rId13"/>
    <p:sldId id="533" r:id="rId14"/>
    <p:sldId id="535" r:id="rId15"/>
    <p:sldId id="536" r:id="rId16"/>
    <p:sldId id="537" r:id="rId17"/>
    <p:sldId id="538" r:id="rId18"/>
    <p:sldId id="539" r:id="rId19"/>
    <p:sldId id="540" r:id="rId20"/>
    <p:sldId id="541" r:id="rId21"/>
    <p:sldId id="542" r:id="rId22"/>
    <p:sldId id="543" r:id="rId23"/>
    <p:sldId id="545" r:id="rId24"/>
    <p:sldId id="544" r:id="rId25"/>
    <p:sldId id="546" r:id="rId26"/>
    <p:sldId id="547" r:id="rId27"/>
    <p:sldId id="548" r:id="rId28"/>
    <p:sldId id="549" r:id="rId29"/>
    <p:sldId id="550" r:id="rId30"/>
    <p:sldId id="551" r:id="rId31"/>
    <p:sldId id="552" r:id="rId32"/>
    <p:sldId id="553" r:id="rId33"/>
    <p:sldId id="554" r:id="rId34"/>
    <p:sldId id="555" r:id="rId35"/>
    <p:sldId id="556" r:id="rId36"/>
    <p:sldId id="557" r:id="rId37"/>
    <p:sldId id="55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C59E75-7985-E26E-C4D3-7E1DBC4D4B2A}" name="Fenton, Susan H" initials="SF" userId="S::Susan.H.Fenton@uth.tmc.edu::430748b2-4004-4e32-9388-b80c488e1c97" providerId="AD"/>
  <p188:author id="{FE144BCE-7519-701E-742F-9E7DF04ACA11}" name="Singh, Uday P" initials="US" userId="S::Uday.PratapSingh@uth.tmc.edu::034af148-7740-4d90-abb7-1cc01d8d4ae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54A"/>
    <a:srgbClr val="BECCE1"/>
    <a:srgbClr val="FFFFFF"/>
    <a:srgbClr val="ED7D31"/>
    <a:srgbClr val="5B9BD5"/>
    <a:srgbClr val="50748A"/>
    <a:srgbClr val="B66645"/>
    <a:srgbClr val="7F7F7F"/>
    <a:srgbClr val="AE6042"/>
    <a:srgbClr val="B966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42" autoAdjust="0"/>
    <p:restoredTop sz="96521" autoAdjust="0"/>
  </p:normalViewPr>
  <p:slideViewPr>
    <p:cSldViewPr snapToGrid="0">
      <p:cViewPr varScale="1">
        <p:scale>
          <a:sx n="160" d="100"/>
          <a:sy n="160" d="100"/>
        </p:scale>
        <p:origin x="552"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979EEF-12A3-D348-8532-AA6D46BFD3D3}" type="datetimeFigureOut">
              <a:rPr lang="en-US" smtClean="0"/>
              <a:t>2/18/26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D2311-923A-3249-9E6B-59ED09505843}" type="slidenum">
              <a:rPr lang="en-US" smtClean="0"/>
              <a:t>‹#›</a:t>
            </a:fld>
            <a:endParaRPr lang="en-US"/>
          </a:p>
        </p:txBody>
      </p:sp>
    </p:spTree>
    <p:extLst>
      <p:ext uri="{BB962C8B-B14F-4D97-AF65-F5344CB8AC3E}">
        <p14:creationId xmlns:p14="http://schemas.microsoft.com/office/powerpoint/2010/main" val="2280201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5B5D8-9BCE-BFBE-E54C-441B0DA181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8E5F7B-DB3C-7CAA-8689-C821BDE427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AADC0E-F9BA-9D0A-4712-239A8ED434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3E7DAD-6544-EA93-5A7B-3C03F0C538B3}"/>
              </a:ext>
            </a:extLst>
          </p:cNvPr>
          <p:cNvSpPr>
            <a:spLocks noGrp="1"/>
          </p:cNvSpPr>
          <p:nvPr>
            <p:ph type="sldNum" sz="quarter" idx="5"/>
          </p:nvPr>
        </p:nvSpPr>
        <p:spPr/>
        <p:txBody>
          <a:bodyPr/>
          <a:lstStyle/>
          <a:p>
            <a:fld id="{3FCD2311-923A-3249-9E6B-59ED09505843}" type="slidenum">
              <a:rPr lang="en-US" smtClean="0"/>
              <a:t>1</a:t>
            </a:fld>
            <a:endParaRPr lang="en-US"/>
          </a:p>
        </p:txBody>
      </p:sp>
    </p:spTree>
    <p:extLst>
      <p:ext uri="{BB962C8B-B14F-4D97-AF65-F5344CB8AC3E}">
        <p14:creationId xmlns:p14="http://schemas.microsoft.com/office/powerpoint/2010/main" val="23663682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Presentation 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319213"/>
            <a:ext cx="10515600" cy="1157287"/>
          </a:xfrm>
          <a:prstGeom prst="rect">
            <a:avLst/>
          </a:prstGeo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1850" y="3675184"/>
            <a:ext cx="10515600" cy="509954"/>
          </a:xfrm>
          <a:prstGeom prst="rect">
            <a:avLst/>
          </a:prstGeom>
        </p:spPr>
        <p:txBody>
          <a:bodyPr/>
          <a:lstStyle>
            <a:lvl1pPr marL="0" indent="0">
              <a:buNone/>
              <a:defRPr sz="32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62967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34E8B27C-8573-8D86-D98F-E93757FA43AF}"/>
              </a:ext>
            </a:extLst>
          </p:cNvPr>
          <p:cNvSpPr>
            <a:spLocks noGrp="1"/>
          </p:cNvSpPr>
          <p:nvPr>
            <p:ph type="title"/>
          </p:nvPr>
        </p:nvSpPr>
        <p:spPr>
          <a:xfrm>
            <a:off x="838200" y="1247775"/>
            <a:ext cx="10515600" cy="1047750"/>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30192857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00514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346200"/>
            <a:ext cx="10515600" cy="1325563"/>
          </a:xfrm>
          <a:prstGeom prst="rect">
            <a:avLst/>
          </a:prstGeom>
        </p:spPr>
        <p:txBody>
          <a:bodyPr/>
          <a:lstStyle>
            <a:lvl1pPr>
              <a:defRPr>
                <a:solidFill>
                  <a:schemeClr val="tx1"/>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2933700"/>
            <a:ext cx="10515600" cy="3243263"/>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94332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319213"/>
            <a:ext cx="10515600" cy="1157287"/>
          </a:xfrm>
          <a:prstGeom prst="rect">
            <a:avLst/>
          </a:prstGeom>
        </p:spPr>
        <p:txBody>
          <a:bodyPr anchor="b"/>
          <a:lstStyle>
            <a:lvl1pPr>
              <a:defRPr sz="600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1850" y="2762250"/>
            <a:ext cx="10515600" cy="3327401"/>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CEC2A8F-A9B4-4210-9F28-0F86B8E83E9D}" type="slidenum">
              <a:rPr lang="en-US" smtClean="0"/>
              <a:t>‹#›</a:t>
            </a:fld>
            <a:endParaRPr lang="en-US"/>
          </a:p>
        </p:txBody>
      </p:sp>
    </p:spTree>
    <p:extLst>
      <p:ext uri="{BB962C8B-B14F-4D97-AF65-F5344CB8AC3E}">
        <p14:creationId xmlns:p14="http://schemas.microsoft.com/office/powerpoint/2010/main" val="20860170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476519"/>
            <a:ext cx="10515600" cy="1108496"/>
          </a:xfrm>
          <a:prstGeom prst="rect">
            <a:avLst/>
          </a:prstGeom>
        </p:spPr>
        <p:txBody>
          <a:bodyPr/>
          <a:lstStyle>
            <a:lvl1pPr>
              <a:defRPr>
                <a:solidFill>
                  <a:schemeClr val="tx1"/>
                </a:solidFill>
              </a:defRPr>
            </a:lvl1pPr>
          </a:lstStyle>
          <a:p>
            <a:r>
              <a:rPr lang="en-US"/>
              <a:t>Click to edit Master title style</a:t>
            </a:r>
            <a:endParaRPr lang="en-US" dirty="0"/>
          </a:p>
        </p:txBody>
      </p:sp>
      <p:sp>
        <p:nvSpPr>
          <p:cNvPr id="3" name="Content Placeholder 2"/>
          <p:cNvSpPr>
            <a:spLocks noGrp="1"/>
          </p:cNvSpPr>
          <p:nvPr>
            <p:ph sz="half" idx="1"/>
          </p:nvPr>
        </p:nvSpPr>
        <p:spPr>
          <a:xfrm>
            <a:off x="838200" y="2047745"/>
            <a:ext cx="5181600" cy="412921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047745"/>
            <a:ext cx="5181600" cy="412921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39DC5459-1009-CCB1-0E7B-1C27C66F1E71}"/>
              </a:ext>
            </a:extLst>
          </p:cNvPr>
          <p:cNvCxnSpPr/>
          <p:nvPr userDrawn="1"/>
        </p:nvCxnSpPr>
        <p:spPr>
          <a:xfrm>
            <a:off x="838200" y="1764407"/>
            <a:ext cx="10515600" cy="0"/>
          </a:xfrm>
          <a:prstGeom prst="line">
            <a:avLst/>
          </a:prstGeom>
          <a:ln w="9525">
            <a:solidFill>
              <a:srgbClr val="AE604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0968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375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581919"/>
            <a:ext cx="10515600" cy="757084"/>
          </a:xfrm>
          <a:prstGeom prst="rect">
            <a:avLst/>
          </a:prstGeom>
        </p:spPr>
        <p:txBody>
          <a:bodyPr/>
          <a:lstStyle>
            <a:lvl1pPr>
              <a:defRPr>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8200" y="2324100"/>
            <a:ext cx="5157787" cy="704850"/>
          </a:xfrm>
          <a:prstGeom prst="rect">
            <a:avLst/>
          </a:prstGeom>
        </p:spPr>
        <p:txBody>
          <a:bodyPr anchor="b"/>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3267075"/>
            <a:ext cx="5157787" cy="292258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0612" y="2324100"/>
            <a:ext cx="5183188" cy="704850"/>
          </a:xfrm>
          <a:prstGeom prst="rect">
            <a:avLst/>
          </a:prstGeom>
        </p:spPr>
        <p:txBody>
          <a:bodyPr anchor="b"/>
          <a:lstStyle>
            <a:lvl1pPr marL="0" indent="0">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267075"/>
            <a:ext cx="5183188" cy="292258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E4680608-5D3D-FB8F-FF7C-0723206D5C36}"/>
              </a:ext>
            </a:extLst>
          </p:cNvPr>
          <p:cNvCxnSpPr/>
          <p:nvPr userDrawn="1"/>
        </p:nvCxnSpPr>
        <p:spPr>
          <a:xfrm>
            <a:off x="838200" y="1764407"/>
            <a:ext cx="10515600" cy="0"/>
          </a:xfrm>
          <a:prstGeom prst="line">
            <a:avLst/>
          </a:prstGeom>
          <a:ln w="9525">
            <a:solidFill>
              <a:srgbClr val="AE604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637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1371599"/>
            <a:ext cx="3932237" cy="885825"/>
          </a:xfrm>
          <a:prstGeom prst="rect">
            <a:avLst/>
          </a:prstGeom>
        </p:spPr>
        <p:txBody>
          <a:bodyPr anchor="b"/>
          <a:lstStyle>
            <a:lvl1pPr>
              <a:defRPr sz="3200">
                <a:solidFill>
                  <a:schemeClr val="tx1"/>
                </a:solidFill>
              </a:defRPr>
            </a:lvl1pPr>
          </a:lstStyle>
          <a:p>
            <a:r>
              <a:rPr lang="en-US"/>
              <a:t>Click to edit Master title style</a:t>
            </a:r>
            <a:endParaRPr lang="en-US" dirty="0"/>
          </a:p>
        </p:txBody>
      </p:sp>
      <p:sp>
        <p:nvSpPr>
          <p:cNvPr id="3" name="Content Placeholder 2"/>
          <p:cNvSpPr>
            <a:spLocks noGrp="1"/>
          </p:cNvSpPr>
          <p:nvPr>
            <p:ph idx="1"/>
          </p:nvPr>
        </p:nvSpPr>
        <p:spPr>
          <a:xfrm>
            <a:off x="5057775" y="1371600"/>
            <a:ext cx="6297613" cy="4705350"/>
          </a:xfrm>
          <a:prstGeom prst="rect">
            <a:avLst/>
          </a:prstGeom>
        </p:spPr>
        <p:txBody>
          <a:bodyPr/>
          <a:lstStyle>
            <a:lvl1pPr>
              <a:defRPr sz="3200">
                <a:solidFill>
                  <a:schemeClr val="tx1"/>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466974"/>
            <a:ext cx="3932237" cy="3609975"/>
          </a:xfrm>
          <a:prstGeom prst="rect">
            <a:avLst/>
          </a:prstGeo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85931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247775"/>
            <a:ext cx="10515600" cy="1047750"/>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2897771839"/>
      </p:ext>
    </p:extLst>
  </p:cSld>
  <p:clrMap bg1="lt1" tx1="dk1" bg2="lt2" tx2="dk2" accent1="accent1" accent2="accent2" accent3="accent3" accent4="accent4" accent5="accent5" accent6="accent6" hlink="hlink" folHlink="folHlink"/>
  <p:sldLayoutIdLst>
    <p:sldLayoutId id="2147483659" r:id="rId1"/>
    <p:sldLayoutId id="2147483649" r:id="rId2"/>
    <p:sldLayoutId id="2147483657" r:id="rId3"/>
    <p:sldLayoutId id="2147483650" r:id="rId4"/>
    <p:sldLayoutId id="2147483651" r:id="rId5"/>
    <p:sldLayoutId id="2147483652" r:id="rId6"/>
    <p:sldLayoutId id="2147483658" r:id="rId7"/>
    <p:sldLayoutId id="2147483653" r:id="rId8"/>
    <p:sldLayoutId id="2147483656" r:id="rId9"/>
  </p:sldLayoutIdLst>
  <p:hf hdr="0" ftr="0" dt="0"/>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25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2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25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88AF2-CDC5-5DAE-AB29-5F4081D011B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487409E-FED8-5E64-E221-C9C4EB35C3D6}"/>
              </a:ext>
            </a:extLst>
          </p:cNvPr>
          <p:cNvSpPr/>
          <p:nvPr/>
        </p:nvSpPr>
        <p:spPr>
          <a:xfrm>
            <a:off x="-122548" y="431185"/>
            <a:ext cx="12405674" cy="9348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A77BE4-B0EA-095F-B1DB-E1F7F3A898FF}"/>
              </a:ext>
            </a:extLst>
          </p:cNvPr>
          <p:cNvSpPr>
            <a:spLocks noGrp="1"/>
          </p:cNvSpPr>
          <p:nvPr>
            <p:ph type="title"/>
          </p:nvPr>
        </p:nvSpPr>
        <p:spPr>
          <a:xfrm>
            <a:off x="838200" y="690801"/>
            <a:ext cx="10515600" cy="1157287"/>
          </a:xfrm>
        </p:spPr>
        <p:txBody>
          <a:bodyPr>
            <a:noAutofit/>
          </a:bodyPr>
          <a:lstStyle/>
          <a:p>
            <a:r>
              <a:rPr lang="en-US" sz="2400" i="1" dirty="0"/>
              <a:t>BMI 6319 Midterm Proposal</a:t>
            </a:r>
          </a:p>
        </p:txBody>
      </p:sp>
      <p:sp>
        <p:nvSpPr>
          <p:cNvPr id="3" name="Text Placeholder 2">
            <a:extLst>
              <a:ext uri="{FF2B5EF4-FFF2-40B4-BE49-F238E27FC236}">
                <a16:creationId xmlns:a16="http://schemas.microsoft.com/office/drawing/2014/main" id="{F4B21AB9-E37D-4421-7BC7-C8C12DB57A58}"/>
              </a:ext>
            </a:extLst>
          </p:cNvPr>
          <p:cNvSpPr>
            <a:spLocks noGrp="1"/>
          </p:cNvSpPr>
          <p:nvPr>
            <p:ph type="body" idx="1"/>
          </p:nvPr>
        </p:nvSpPr>
        <p:spPr>
          <a:xfrm>
            <a:off x="838200" y="3692201"/>
            <a:ext cx="9493892" cy="509954"/>
          </a:xfrm>
        </p:spPr>
        <p:txBody>
          <a:bodyPr/>
          <a:lstStyle/>
          <a:p>
            <a:r>
              <a:rPr lang="en-IN" dirty="0"/>
              <a:t>Uday Pratap Singh, BDS, MDS, PhD Student</a:t>
            </a:r>
          </a:p>
        </p:txBody>
      </p:sp>
      <p:sp>
        <p:nvSpPr>
          <p:cNvPr id="4" name="Rectangle 3">
            <a:extLst>
              <a:ext uri="{FF2B5EF4-FFF2-40B4-BE49-F238E27FC236}">
                <a16:creationId xmlns:a16="http://schemas.microsoft.com/office/drawing/2014/main" id="{EDBC15DE-BB06-89BC-F8D8-A8C00C61B08C}"/>
              </a:ext>
            </a:extLst>
          </p:cNvPr>
          <p:cNvSpPr/>
          <p:nvPr/>
        </p:nvSpPr>
        <p:spPr>
          <a:xfrm>
            <a:off x="327991" y="4711148"/>
            <a:ext cx="5768009" cy="138153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SBMI Horizontal Logo">
            <a:extLst>
              <a:ext uri="{FF2B5EF4-FFF2-40B4-BE49-F238E27FC236}">
                <a16:creationId xmlns:a16="http://schemas.microsoft.com/office/drawing/2014/main" id="{0425BC17-79F2-CF0A-BC03-C7C767D64B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558276"/>
            <a:ext cx="6116719" cy="74165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859B33B-5509-B385-C2D9-BEF201207D10}"/>
              </a:ext>
            </a:extLst>
          </p:cNvPr>
          <p:cNvSpPr txBox="1"/>
          <p:nvPr/>
        </p:nvSpPr>
        <p:spPr>
          <a:xfrm>
            <a:off x="838200" y="1900009"/>
            <a:ext cx="10389124" cy="1078913"/>
          </a:xfrm>
          <a:prstGeom prst="rect">
            <a:avLst/>
          </a:prstGeom>
        </p:spPr>
        <p:txBody>
          <a:bodyPr vert="horz" lIns="91440" tIns="45720" rIns="91440" bIns="45720" rtlCol="0" anchor="b">
            <a:normAutofit fontScale="90000" lnSpcReduction="20000"/>
          </a:bodyPr>
          <a:lstStyle>
            <a:lvl1pPr>
              <a:lnSpc>
                <a:spcPct val="90000"/>
              </a:lnSpc>
              <a:spcBef>
                <a:spcPct val="0"/>
              </a:spcBef>
              <a:buNone/>
              <a:defRPr sz="6000" b="1">
                <a:solidFill>
                  <a:schemeClr val="bg1"/>
                </a:solidFill>
                <a:latin typeface="Arial" panose="020B0604020202020204" pitchFamily="34" charset="0"/>
                <a:ea typeface="+mj-ea"/>
                <a:cs typeface="Arial" panose="020B0604020202020204" pitchFamily="34" charset="0"/>
              </a:defRPr>
            </a:lvl1pPr>
          </a:lstStyle>
          <a:p>
            <a:pPr>
              <a:lnSpc>
                <a:spcPct val="120000"/>
              </a:lnSpc>
            </a:pPr>
            <a:r>
              <a:rPr lang="en-US" sz="3600" dirty="0"/>
              <a:t>Voice-Based Screening of Parkinson’s Disease Using Clustered Acoustic Features</a:t>
            </a:r>
          </a:p>
        </p:txBody>
      </p:sp>
      <p:sp>
        <p:nvSpPr>
          <p:cNvPr id="7" name="TextBox 6">
            <a:extLst>
              <a:ext uri="{FF2B5EF4-FFF2-40B4-BE49-F238E27FC236}">
                <a16:creationId xmlns:a16="http://schemas.microsoft.com/office/drawing/2014/main" id="{44B64B50-F586-DBFE-7346-4BB476B84AEB}"/>
              </a:ext>
            </a:extLst>
          </p:cNvPr>
          <p:cNvSpPr txBox="1"/>
          <p:nvPr/>
        </p:nvSpPr>
        <p:spPr>
          <a:xfrm>
            <a:off x="838200" y="4655571"/>
            <a:ext cx="5429839" cy="1477328"/>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Primary Mentor:</a:t>
            </a:r>
          </a:p>
          <a:p>
            <a:r>
              <a:rPr lang="en-US" i="1" dirty="0">
                <a:latin typeface="Arial" panose="020B0604020202020204" pitchFamily="34" charset="0"/>
                <a:cs typeface="Arial" panose="020B0604020202020204" pitchFamily="34" charset="0"/>
              </a:rPr>
              <a:t>Xiaoqian Jiang, PhD</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Data Source:</a:t>
            </a:r>
          </a:p>
          <a:p>
            <a:r>
              <a:rPr lang="en-US" i="1" dirty="0">
                <a:latin typeface="Arial" panose="020B0604020202020204" pitchFamily="34" charset="0"/>
                <a:cs typeface="Arial" panose="020B0604020202020204" pitchFamily="34" charset="0"/>
              </a:rPr>
              <a:t>Bridge2AI Voice Dataset (PhysioNet)</a:t>
            </a:r>
          </a:p>
        </p:txBody>
      </p:sp>
      <p:sp>
        <p:nvSpPr>
          <p:cNvPr id="8" name="TextBox 7">
            <a:extLst>
              <a:ext uri="{FF2B5EF4-FFF2-40B4-BE49-F238E27FC236}">
                <a16:creationId xmlns:a16="http://schemas.microsoft.com/office/drawing/2014/main" id="{A74D1C8B-127F-C71F-7C25-036C6560A35F}"/>
              </a:ext>
            </a:extLst>
          </p:cNvPr>
          <p:cNvSpPr txBox="1"/>
          <p:nvPr/>
        </p:nvSpPr>
        <p:spPr>
          <a:xfrm>
            <a:off x="6434170" y="4655571"/>
            <a:ext cx="5066531" cy="1477328"/>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Proposal Type:</a:t>
            </a:r>
          </a:p>
          <a:p>
            <a:r>
              <a:rPr lang="en-US" i="1" dirty="0">
                <a:latin typeface="Arial" panose="020B0604020202020204" pitchFamily="34" charset="0"/>
                <a:cs typeface="Arial" panose="020B0604020202020204" pitchFamily="34" charset="0"/>
              </a:rPr>
              <a:t>Methods-focused, reproducible machine-learning study for clinical screening</a:t>
            </a:r>
          </a:p>
          <a:p>
            <a:r>
              <a:rPr lang="en-US" b="1" dirty="0">
                <a:latin typeface="Arial" panose="020B0604020202020204" pitchFamily="34" charset="0"/>
                <a:cs typeface="Arial" panose="020B0604020202020204" pitchFamily="34" charset="0"/>
              </a:rPr>
              <a:t>Date:</a:t>
            </a:r>
          </a:p>
          <a:p>
            <a:r>
              <a:rPr lang="en-US" i="1" dirty="0">
                <a:latin typeface="Arial" panose="020B0604020202020204" pitchFamily="34" charset="0"/>
                <a:cs typeface="Arial" panose="020B0604020202020204" pitchFamily="34" charset="0"/>
              </a:rPr>
              <a:t>01/28/2026</a:t>
            </a:r>
          </a:p>
        </p:txBody>
      </p:sp>
    </p:spTree>
    <p:extLst>
      <p:ext uri="{BB962C8B-B14F-4D97-AF65-F5344CB8AC3E}">
        <p14:creationId xmlns:p14="http://schemas.microsoft.com/office/powerpoint/2010/main" val="5261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42C30-8A9A-0B17-A131-57D61A995C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B4905-433A-B41F-5A2E-A395930684A7}"/>
              </a:ext>
            </a:extLst>
          </p:cNvPr>
          <p:cNvSpPr>
            <a:spLocks noGrp="1"/>
          </p:cNvSpPr>
          <p:nvPr>
            <p:ph type="title"/>
          </p:nvPr>
        </p:nvSpPr>
        <p:spPr/>
        <p:txBody>
          <a:bodyPr/>
          <a:lstStyle/>
          <a:p>
            <a:r>
              <a:rPr lang="en-US" dirty="0"/>
              <a:t>High-Level Overview &amp; Aims</a:t>
            </a:r>
          </a:p>
        </p:txBody>
      </p:sp>
      <p:sp>
        <p:nvSpPr>
          <p:cNvPr id="3" name="Content Placeholder 2">
            <a:extLst>
              <a:ext uri="{FF2B5EF4-FFF2-40B4-BE49-F238E27FC236}">
                <a16:creationId xmlns:a16="http://schemas.microsoft.com/office/drawing/2014/main" id="{E934E4FA-74B9-6B77-45D8-DEA4EC36902B}"/>
              </a:ext>
            </a:extLst>
          </p:cNvPr>
          <p:cNvSpPr>
            <a:spLocks noGrp="1"/>
          </p:cNvSpPr>
          <p:nvPr>
            <p:ph idx="1"/>
          </p:nvPr>
        </p:nvSpPr>
        <p:spPr>
          <a:xfrm>
            <a:off x="838200" y="2564606"/>
            <a:ext cx="10515600" cy="3798487"/>
          </a:xfrm>
        </p:spPr>
        <p:txBody>
          <a:bodyPr/>
          <a:lstStyle/>
          <a:p>
            <a:pPr marL="0" indent="0">
              <a:buNone/>
            </a:pPr>
            <a:r>
              <a:rPr lang="en-US" sz="2400" b="1" dirty="0"/>
              <a:t>Motivation</a:t>
            </a:r>
          </a:p>
          <a:p>
            <a:r>
              <a:rPr lang="en-US" sz="1800" dirty="0"/>
              <a:t>Parkinson’s disease affects vocal motor control early, leading to subtle, distributed speech changes that can precede clinical diagnosis.</a:t>
            </a:r>
          </a:p>
          <a:p>
            <a:r>
              <a:rPr lang="en-US" sz="1800" dirty="0"/>
              <a:t>Voice-based screening is non-invasive and scalable, but many existing studies rely on small datasets and limited acoustic feature sets, restricting robustness.</a:t>
            </a:r>
          </a:p>
          <a:p>
            <a:r>
              <a:rPr lang="en-US" sz="1800" dirty="0"/>
              <a:t>Prior models often prioritize predictive accuracy over explainability and patient-level generalization, limiting their clinical and biomarker relevance.</a:t>
            </a:r>
            <a:endParaRPr lang="en-US" sz="1800" b="1" dirty="0"/>
          </a:p>
          <a:p>
            <a:pPr marL="0" indent="0">
              <a:buNone/>
            </a:pPr>
            <a:r>
              <a:rPr lang="en-US" sz="2400" b="1" dirty="0"/>
              <a:t>Overall Objectives</a:t>
            </a:r>
          </a:p>
          <a:p>
            <a:pPr marL="0" indent="0">
              <a:buNone/>
            </a:pPr>
            <a:r>
              <a:rPr lang="en-US" sz="1800" dirty="0"/>
              <a:t>Develop a reproducible, voice-only machine learning pipeline that</a:t>
            </a:r>
          </a:p>
          <a:p>
            <a:pPr marL="457200" indent="-457200">
              <a:buAutoNum type="arabicPeriod"/>
            </a:pPr>
            <a:r>
              <a:rPr lang="en-US" sz="1800" dirty="0"/>
              <a:t>improves patient-level Parkinson’s screening using cluster-aggregated features, and</a:t>
            </a:r>
          </a:p>
          <a:p>
            <a:pPr marL="457200" indent="-457200">
              <a:buAutoNum type="arabicPeriod"/>
            </a:pPr>
            <a:r>
              <a:rPr lang="en-US" sz="1800" dirty="0"/>
              <a:t>reveals meaningful acoustic clusters to support future vocal biomarker discovery.</a:t>
            </a:r>
          </a:p>
        </p:txBody>
      </p:sp>
    </p:spTree>
    <p:extLst>
      <p:ext uri="{BB962C8B-B14F-4D97-AF65-F5344CB8AC3E}">
        <p14:creationId xmlns:p14="http://schemas.microsoft.com/office/powerpoint/2010/main" val="3373555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884D3-8793-E08A-939C-4B4AAA42D4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D0E63-217B-3F98-35D1-DDED8D4C4A50}"/>
              </a:ext>
            </a:extLst>
          </p:cNvPr>
          <p:cNvSpPr>
            <a:spLocks noGrp="1"/>
          </p:cNvSpPr>
          <p:nvPr>
            <p:ph type="title"/>
          </p:nvPr>
        </p:nvSpPr>
        <p:spPr/>
        <p:txBody>
          <a:bodyPr/>
          <a:lstStyle/>
          <a:p>
            <a:r>
              <a:rPr lang="en-US" dirty="0"/>
              <a:t>Team Members</a:t>
            </a:r>
          </a:p>
        </p:txBody>
      </p:sp>
      <p:sp>
        <p:nvSpPr>
          <p:cNvPr id="3" name="Content Placeholder 2">
            <a:extLst>
              <a:ext uri="{FF2B5EF4-FFF2-40B4-BE49-F238E27FC236}">
                <a16:creationId xmlns:a16="http://schemas.microsoft.com/office/drawing/2014/main" id="{2D0754FE-985E-EA24-E876-DECFE0A3BA2D}"/>
              </a:ext>
            </a:extLst>
          </p:cNvPr>
          <p:cNvSpPr>
            <a:spLocks noGrp="1"/>
          </p:cNvSpPr>
          <p:nvPr>
            <p:ph idx="1"/>
          </p:nvPr>
        </p:nvSpPr>
        <p:spPr>
          <a:xfrm>
            <a:off x="843280" y="2564604"/>
            <a:ext cx="4871720" cy="3798487"/>
          </a:xfrm>
        </p:spPr>
        <p:txBody>
          <a:bodyPr/>
          <a:lstStyle/>
          <a:p>
            <a:pPr marL="0" indent="0">
              <a:buNone/>
            </a:pPr>
            <a:r>
              <a:rPr lang="en-US" sz="1800" b="1" dirty="0"/>
              <a:t>Principal Investigator / Lead Analyst</a:t>
            </a:r>
          </a:p>
          <a:p>
            <a:pPr marL="0" indent="0">
              <a:buNone/>
            </a:pPr>
            <a:r>
              <a:rPr lang="en-US" sz="1800" dirty="0"/>
              <a:t>Uday Pratap Singh, BDS, MDS</a:t>
            </a:r>
          </a:p>
          <a:p>
            <a:pPr marL="0" indent="0">
              <a:buNone/>
            </a:pPr>
            <a:r>
              <a:rPr lang="en-US" sz="1800" dirty="0"/>
              <a:t>PhD Student &amp; Graduate Research Assistant</a:t>
            </a:r>
          </a:p>
          <a:p>
            <a:pPr marL="0" indent="0">
              <a:buNone/>
            </a:pPr>
            <a:r>
              <a:rPr lang="en-US" sz="1800" dirty="0"/>
              <a:t>Biomedical Informatics, UTHealth Houston</a:t>
            </a:r>
          </a:p>
          <a:p>
            <a:pPr marL="0" indent="0">
              <a:buNone/>
            </a:pPr>
            <a:endParaRPr lang="en-US" sz="1800" dirty="0"/>
          </a:p>
          <a:p>
            <a:pPr marL="0" indent="0">
              <a:buNone/>
            </a:pPr>
            <a:r>
              <a:rPr lang="en-US" sz="1800" b="1" dirty="0"/>
              <a:t>Faculty Mentor</a:t>
            </a:r>
          </a:p>
          <a:p>
            <a:pPr marL="0" indent="0">
              <a:buNone/>
            </a:pPr>
            <a:r>
              <a:rPr lang="en-US" sz="1800" dirty="0"/>
              <a:t>Xiaoqian Jiang, PhD</a:t>
            </a:r>
          </a:p>
          <a:p>
            <a:pPr marL="0" indent="0">
              <a:buNone/>
            </a:pPr>
            <a:r>
              <a:rPr lang="en-US" sz="1800" dirty="0"/>
              <a:t>Professor of Biomedical Informatics</a:t>
            </a:r>
          </a:p>
          <a:p>
            <a:pPr marL="0" indent="0">
              <a:buNone/>
            </a:pPr>
            <a:r>
              <a:rPr lang="en-US" sz="1800" dirty="0"/>
              <a:t>UTHealth Houston</a:t>
            </a:r>
          </a:p>
        </p:txBody>
      </p:sp>
      <p:sp>
        <p:nvSpPr>
          <p:cNvPr id="4" name="Content Placeholder 2">
            <a:extLst>
              <a:ext uri="{FF2B5EF4-FFF2-40B4-BE49-F238E27FC236}">
                <a16:creationId xmlns:a16="http://schemas.microsoft.com/office/drawing/2014/main" id="{3E32A16E-634E-8B02-75BF-A2BB48664A95}"/>
              </a:ext>
            </a:extLst>
          </p:cNvPr>
          <p:cNvSpPr txBox="1">
            <a:spLocks/>
          </p:cNvSpPr>
          <p:nvPr/>
        </p:nvSpPr>
        <p:spPr>
          <a:xfrm>
            <a:off x="6253480" y="2564605"/>
            <a:ext cx="4871720" cy="37984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dirty="0"/>
              <a:t>Clinical Lead (Neurology)</a:t>
            </a:r>
          </a:p>
          <a:p>
            <a:pPr marL="0" indent="0">
              <a:buFont typeface="Arial" panose="020B0604020202020204" pitchFamily="34" charset="0"/>
              <a:buNone/>
            </a:pPr>
            <a:r>
              <a:rPr lang="en-US" sz="1800" dirty="0"/>
              <a:t>Sean I. Savitz, MD</a:t>
            </a:r>
          </a:p>
          <a:p>
            <a:pPr marL="0" indent="0">
              <a:buFont typeface="Arial" panose="020B0604020202020204" pitchFamily="34" charset="0"/>
              <a:buNone/>
            </a:pPr>
            <a:r>
              <a:rPr lang="en-US" sz="1800" dirty="0"/>
              <a:t>Professor of Neurology</a:t>
            </a:r>
          </a:p>
          <a:p>
            <a:pPr marL="0" indent="0">
              <a:buFont typeface="Arial" panose="020B0604020202020204" pitchFamily="34" charset="0"/>
              <a:buNone/>
            </a:pPr>
            <a:r>
              <a:rPr lang="en-US" sz="1800" dirty="0"/>
              <a:t>UTHealth Houston</a:t>
            </a:r>
          </a:p>
          <a:p>
            <a:pPr marL="0" indent="0">
              <a:buFont typeface="Arial" panose="020B0604020202020204" pitchFamily="34" charset="0"/>
              <a:buNone/>
            </a:pPr>
            <a:endParaRPr lang="en-US" sz="1800" dirty="0"/>
          </a:p>
          <a:p>
            <a:pPr marL="0" indent="0">
              <a:buFont typeface="Arial" panose="020B0604020202020204" pitchFamily="34" charset="0"/>
              <a:buNone/>
            </a:pPr>
            <a:r>
              <a:rPr lang="en-US" sz="1800" b="1" dirty="0"/>
              <a:t>Speech &amp; Voice Domain Expert</a:t>
            </a:r>
          </a:p>
          <a:p>
            <a:pPr marL="0" indent="0">
              <a:buFont typeface="Arial" panose="020B0604020202020204" pitchFamily="34" charset="0"/>
              <a:buNone/>
            </a:pPr>
            <a:r>
              <a:rPr lang="en-US" sz="1800" dirty="0"/>
              <a:t>Heather Smith, MA, CCC-SLP, CBIS</a:t>
            </a:r>
          </a:p>
          <a:p>
            <a:pPr marL="0" indent="0">
              <a:buFont typeface="Arial" panose="020B0604020202020204" pitchFamily="34" charset="0"/>
              <a:buNone/>
            </a:pPr>
            <a:r>
              <a:rPr lang="en-US" sz="1800" dirty="0"/>
              <a:t>Speech-Language Pathologist</a:t>
            </a:r>
          </a:p>
        </p:txBody>
      </p:sp>
    </p:spTree>
    <p:extLst>
      <p:ext uri="{BB962C8B-B14F-4D97-AF65-F5344CB8AC3E}">
        <p14:creationId xmlns:p14="http://schemas.microsoft.com/office/powerpoint/2010/main" val="1924147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53D05-F414-2655-D4FA-1BF6C27E1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8B7CAC-BF07-EC32-A72C-72AB7A0E5AEC}"/>
              </a:ext>
            </a:extLst>
          </p:cNvPr>
          <p:cNvSpPr>
            <a:spLocks noGrp="1"/>
          </p:cNvSpPr>
          <p:nvPr>
            <p:ph type="title"/>
          </p:nvPr>
        </p:nvSpPr>
        <p:spPr/>
        <p:txBody>
          <a:bodyPr/>
          <a:lstStyle/>
          <a:p>
            <a:r>
              <a:rPr lang="en-US" dirty="0"/>
              <a:t>Plain Language Narrative</a:t>
            </a:r>
          </a:p>
        </p:txBody>
      </p:sp>
      <p:sp>
        <p:nvSpPr>
          <p:cNvPr id="3" name="Content Placeholder 2">
            <a:extLst>
              <a:ext uri="{FF2B5EF4-FFF2-40B4-BE49-F238E27FC236}">
                <a16:creationId xmlns:a16="http://schemas.microsoft.com/office/drawing/2014/main" id="{96C0478D-E5F5-412D-36CF-B9DD37651227}"/>
              </a:ext>
            </a:extLst>
          </p:cNvPr>
          <p:cNvSpPr>
            <a:spLocks noGrp="1"/>
          </p:cNvSpPr>
          <p:nvPr>
            <p:ph idx="1"/>
          </p:nvPr>
        </p:nvSpPr>
        <p:spPr>
          <a:xfrm>
            <a:off x="838200" y="2564606"/>
            <a:ext cx="10515600" cy="3798487"/>
          </a:xfrm>
        </p:spPr>
        <p:txBody>
          <a:bodyPr/>
          <a:lstStyle/>
          <a:p>
            <a:pPr marL="0" indent="0">
              <a:buNone/>
            </a:pPr>
            <a:r>
              <a:rPr lang="en-US" sz="1800" dirty="0"/>
              <a:t>Parkinson’s disease affects vocal motor control early in its course, leading to subtle and distributed changes in speech that may precede clinical diagnosis. While voice-based screening is non-invasive and scalable, existing approaches often rely on small datasets, limited acoustic features, and recording-level evaluation, with limited insight into which speech characteristics are most informative.</a:t>
            </a:r>
          </a:p>
          <a:p>
            <a:pPr marL="0" indent="0">
              <a:buNone/>
            </a:pPr>
            <a:r>
              <a:rPr lang="en-US" sz="1800" dirty="0"/>
              <a:t>In this study, we developed a voice-only, reproducible analysis framework that explicitly examines the structure of acoustic features rather than treating them as independent variables. We analyzed correlations among acoustic features to identify coherent feature clusters, aggregated these clusters into compact representations, and evaluated their utility for patient-level Parkinson’s disease screening.</a:t>
            </a:r>
          </a:p>
          <a:p>
            <a:pPr marL="0" indent="0">
              <a:buNone/>
            </a:pPr>
            <a:r>
              <a:rPr lang="en-US" sz="1800" dirty="0"/>
              <a:t>By focusing on feature interactions and interpretability, rather than only predictive accuracy, this work aims to improve robustness and to provide a foundation for identifying meaningful vocal biomarker groups that can support future clinical and translational research.</a:t>
            </a:r>
          </a:p>
        </p:txBody>
      </p:sp>
    </p:spTree>
    <p:extLst>
      <p:ext uri="{BB962C8B-B14F-4D97-AF65-F5344CB8AC3E}">
        <p14:creationId xmlns:p14="http://schemas.microsoft.com/office/powerpoint/2010/main" val="106107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9A1DA-F420-137D-2C75-093AC2F006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4F790-70CF-101E-6C20-0D96D1F411C2}"/>
              </a:ext>
            </a:extLst>
          </p:cNvPr>
          <p:cNvSpPr>
            <a:spLocks noGrp="1"/>
          </p:cNvSpPr>
          <p:nvPr>
            <p:ph type="title"/>
          </p:nvPr>
        </p:nvSpPr>
        <p:spPr/>
        <p:txBody>
          <a:bodyPr>
            <a:normAutofit/>
          </a:bodyPr>
          <a:lstStyle/>
          <a:p>
            <a:r>
              <a:rPr lang="en-US" dirty="0"/>
              <a:t>Innovation</a:t>
            </a:r>
          </a:p>
        </p:txBody>
      </p:sp>
      <p:sp>
        <p:nvSpPr>
          <p:cNvPr id="3" name="Content Placeholder 2">
            <a:extLst>
              <a:ext uri="{FF2B5EF4-FFF2-40B4-BE49-F238E27FC236}">
                <a16:creationId xmlns:a16="http://schemas.microsoft.com/office/drawing/2014/main" id="{C0207E42-5CE1-2CCB-5BB2-4B3796C5B223}"/>
              </a:ext>
            </a:extLst>
          </p:cNvPr>
          <p:cNvSpPr>
            <a:spLocks noGrp="1"/>
          </p:cNvSpPr>
          <p:nvPr>
            <p:ph idx="1"/>
          </p:nvPr>
        </p:nvSpPr>
        <p:spPr>
          <a:xfrm>
            <a:off x="838200" y="2429434"/>
            <a:ext cx="10515600" cy="3798487"/>
          </a:xfrm>
        </p:spPr>
        <p:txBody>
          <a:bodyPr/>
          <a:lstStyle/>
          <a:p>
            <a:pPr marL="0" indent="0">
              <a:buNone/>
            </a:pPr>
            <a:r>
              <a:rPr lang="en-US" sz="2000" b="1" dirty="0"/>
              <a:t>Feature-cluster–centric perspective</a:t>
            </a:r>
          </a:p>
          <a:p>
            <a:pPr marL="0" indent="0">
              <a:buNone/>
            </a:pPr>
            <a:r>
              <a:rPr lang="en-US" sz="1800" dirty="0"/>
              <a:t>Instead of selecting or ranking individual acoustic features, we explicitly learn and analyze coherent acoustic feature clusters, treating them as fundamental units of information.</a:t>
            </a:r>
          </a:p>
          <a:p>
            <a:pPr marL="0" indent="0">
              <a:buNone/>
            </a:pPr>
            <a:r>
              <a:rPr lang="en-US" sz="2000" b="1" dirty="0"/>
              <a:t>Interpretable, structured dimensionality reduction</a:t>
            </a:r>
          </a:p>
          <a:p>
            <a:pPr marL="0" indent="0">
              <a:buNone/>
            </a:pPr>
            <a:r>
              <a:rPr lang="en-US" sz="1800" dirty="0"/>
              <a:t>Correlation-based clustering enables substantial feature compression while preserving interpretable acoustic domains grounded in speech physiology.</a:t>
            </a:r>
          </a:p>
          <a:p>
            <a:pPr marL="0" indent="0">
              <a:buNone/>
            </a:pPr>
            <a:r>
              <a:rPr lang="en-US" sz="2000" b="1" dirty="0"/>
              <a:t>Patient-level, voice-only screening framework</a:t>
            </a:r>
          </a:p>
          <a:p>
            <a:pPr marL="0" indent="0">
              <a:buNone/>
            </a:pPr>
            <a:r>
              <a:rPr lang="en-US" sz="1800" dirty="0"/>
              <a:t>The pipeline is designed for patient-level aggregation using voice data alone, aligning with real-world screening scenarios and minimizing reliance on confounding phenotype variables.</a:t>
            </a:r>
          </a:p>
          <a:p>
            <a:pPr marL="0" indent="0">
              <a:buNone/>
            </a:pPr>
            <a:r>
              <a:rPr lang="en-US" sz="2000" b="1" dirty="0"/>
              <a:t>Biomarker-oriented modeling beyond classification</a:t>
            </a:r>
          </a:p>
          <a:p>
            <a:pPr marL="0" indent="0">
              <a:buNone/>
            </a:pPr>
            <a:r>
              <a:rPr lang="en-US" sz="1800" dirty="0"/>
              <a:t>By characterizing and evaluating acoustic feature clusters, the approach supports identification of candidate vocal biomarker families, rather than relying on opaque, high-dimensional models.</a:t>
            </a:r>
          </a:p>
        </p:txBody>
      </p:sp>
    </p:spTree>
    <p:extLst>
      <p:ext uri="{BB962C8B-B14F-4D97-AF65-F5344CB8AC3E}">
        <p14:creationId xmlns:p14="http://schemas.microsoft.com/office/powerpoint/2010/main" val="1588108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F5D80-3D64-B9B0-F157-ED683A10A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CBA2F8-C455-679C-39BA-78B28EB46966}"/>
              </a:ext>
            </a:extLst>
          </p:cNvPr>
          <p:cNvSpPr>
            <a:spLocks noGrp="1"/>
          </p:cNvSpPr>
          <p:nvPr>
            <p:ph type="title"/>
          </p:nvPr>
        </p:nvSpPr>
        <p:spPr/>
        <p:txBody>
          <a:bodyPr>
            <a:normAutofit/>
          </a:bodyPr>
          <a:lstStyle/>
          <a:p>
            <a:r>
              <a:rPr lang="en-US" dirty="0"/>
              <a:t>Dataset Overview</a:t>
            </a:r>
          </a:p>
        </p:txBody>
      </p:sp>
      <p:sp>
        <p:nvSpPr>
          <p:cNvPr id="3" name="Content Placeholder 2">
            <a:extLst>
              <a:ext uri="{FF2B5EF4-FFF2-40B4-BE49-F238E27FC236}">
                <a16:creationId xmlns:a16="http://schemas.microsoft.com/office/drawing/2014/main" id="{449907AF-985E-8AE5-8DCD-34B2B4354C07}"/>
              </a:ext>
            </a:extLst>
          </p:cNvPr>
          <p:cNvSpPr>
            <a:spLocks noGrp="1"/>
          </p:cNvSpPr>
          <p:nvPr>
            <p:ph idx="1"/>
          </p:nvPr>
        </p:nvSpPr>
        <p:spPr>
          <a:xfrm>
            <a:off x="838200" y="2564606"/>
            <a:ext cx="10515600" cy="3798487"/>
          </a:xfrm>
        </p:spPr>
        <p:txBody>
          <a:bodyPr/>
          <a:lstStyle/>
          <a:p>
            <a:pPr marL="0" indent="0">
              <a:buNone/>
            </a:pPr>
            <a:r>
              <a:rPr lang="en-US" sz="2400" b="1" dirty="0"/>
              <a:t>Data Source</a:t>
            </a:r>
            <a:r>
              <a:rPr lang="en-US" sz="2400" dirty="0"/>
              <a:t>: Bridge2AI Voice Dataset (PhysioNet)</a:t>
            </a:r>
          </a:p>
          <a:p>
            <a:pPr marL="0" indent="0">
              <a:buNone/>
            </a:pPr>
            <a:r>
              <a:rPr lang="en-US" sz="2400" b="1" dirty="0"/>
              <a:t>Scope</a:t>
            </a:r>
            <a:r>
              <a:rPr lang="en-US" sz="2400" dirty="0"/>
              <a:t>: Large, ethically sourced voice dataset linked to health information</a:t>
            </a:r>
          </a:p>
          <a:p>
            <a:pPr marL="0" indent="0">
              <a:buNone/>
            </a:pPr>
            <a:r>
              <a:rPr lang="en-US" sz="2400" b="1" dirty="0"/>
              <a:t>Size</a:t>
            </a:r>
            <a:r>
              <a:rPr lang="en-US" sz="2400" dirty="0"/>
              <a:t>: 19,000+ voice recordings collected from a diverse participant population</a:t>
            </a:r>
          </a:p>
          <a:p>
            <a:pPr marL="0" indent="0">
              <a:buNone/>
            </a:pPr>
            <a:r>
              <a:rPr lang="en-US" sz="2400" b="1" dirty="0"/>
              <a:t>Data Collection</a:t>
            </a:r>
            <a:r>
              <a:rPr lang="en-US" sz="2400" dirty="0"/>
              <a:t>: Standardized speech recordings collected using well-defined, consistent tasks across the entire dataset</a:t>
            </a:r>
          </a:p>
          <a:p>
            <a:pPr marL="0" indent="0">
              <a:buNone/>
            </a:pPr>
            <a:r>
              <a:rPr lang="en-US" sz="2400" b="1" dirty="0"/>
              <a:t>Annotations</a:t>
            </a:r>
            <a:r>
              <a:rPr lang="en-US" sz="2400" dirty="0"/>
              <a:t>: Diagnostic labels, task metadata, and selected phenotype information</a:t>
            </a:r>
          </a:p>
        </p:txBody>
      </p:sp>
    </p:spTree>
    <p:extLst>
      <p:ext uri="{BB962C8B-B14F-4D97-AF65-F5344CB8AC3E}">
        <p14:creationId xmlns:p14="http://schemas.microsoft.com/office/powerpoint/2010/main" val="2415061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E5BAD-E7FA-3B44-8D5C-FDF3D9355E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70A23-08AC-8705-F458-339E04D0DD2B}"/>
              </a:ext>
            </a:extLst>
          </p:cNvPr>
          <p:cNvSpPr>
            <a:spLocks noGrp="1"/>
          </p:cNvSpPr>
          <p:nvPr>
            <p:ph type="title"/>
          </p:nvPr>
        </p:nvSpPr>
        <p:spPr/>
        <p:txBody>
          <a:bodyPr/>
          <a:lstStyle/>
          <a:p>
            <a:r>
              <a:rPr lang="en-US" dirty="0"/>
              <a:t>Phenotypes in the Dataset</a:t>
            </a:r>
          </a:p>
        </p:txBody>
      </p:sp>
      <p:sp>
        <p:nvSpPr>
          <p:cNvPr id="6" name="Content Placeholder 5">
            <a:extLst>
              <a:ext uri="{FF2B5EF4-FFF2-40B4-BE49-F238E27FC236}">
                <a16:creationId xmlns:a16="http://schemas.microsoft.com/office/drawing/2014/main" id="{7018F9B9-61B3-BAED-C5E7-42D38729FAE5}"/>
              </a:ext>
            </a:extLst>
          </p:cNvPr>
          <p:cNvSpPr>
            <a:spLocks noGrp="1"/>
          </p:cNvSpPr>
          <p:nvPr>
            <p:ph idx="1"/>
          </p:nvPr>
        </p:nvSpPr>
        <p:spPr/>
        <p:txBody>
          <a:bodyPr/>
          <a:lstStyle/>
          <a:p>
            <a:endParaRPr lang="en-US"/>
          </a:p>
        </p:txBody>
      </p:sp>
      <p:pic>
        <p:nvPicPr>
          <p:cNvPr id="7" name="Picture 6" descr="A pie chart with different colored circles&#10;&#10;AI-generated content may be incorrect.">
            <a:extLst>
              <a:ext uri="{FF2B5EF4-FFF2-40B4-BE49-F238E27FC236}">
                <a16:creationId xmlns:a16="http://schemas.microsoft.com/office/drawing/2014/main" id="{65245A66-5C94-ACFB-228A-0250ADAA7E33}"/>
              </a:ext>
            </a:extLst>
          </p:cNvPr>
          <p:cNvPicPr>
            <a:picLocks noChangeAspect="1"/>
          </p:cNvPicPr>
          <p:nvPr/>
        </p:nvPicPr>
        <p:blipFill>
          <a:blip r:embed="rId2"/>
          <a:srcRect l="2767"/>
          <a:stretch>
            <a:fillRect/>
          </a:stretch>
        </p:blipFill>
        <p:spPr>
          <a:xfrm>
            <a:off x="69020" y="2986550"/>
            <a:ext cx="12053959" cy="3562799"/>
          </a:xfrm>
          <a:prstGeom prst="rect">
            <a:avLst/>
          </a:prstGeom>
        </p:spPr>
      </p:pic>
    </p:spTree>
    <p:extLst>
      <p:ext uri="{BB962C8B-B14F-4D97-AF65-F5344CB8AC3E}">
        <p14:creationId xmlns:p14="http://schemas.microsoft.com/office/powerpoint/2010/main" val="1497332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09EB4-B22C-4028-8A5A-204F97AD96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607FAC-5863-4C38-497B-A26CE973BA9E}"/>
              </a:ext>
            </a:extLst>
          </p:cNvPr>
          <p:cNvSpPr>
            <a:spLocks noGrp="1"/>
          </p:cNvSpPr>
          <p:nvPr>
            <p:ph type="title"/>
          </p:nvPr>
        </p:nvSpPr>
        <p:spPr/>
        <p:txBody>
          <a:bodyPr>
            <a:normAutofit/>
          </a:bodyPr>
          <a:lstStyle/>
          <a:p>
            <a:r>
              <a:rPr lang="en-US" dirty="0"/>
              <a:t>Dimensionality and Embedding Insights</a:t>
            </a:r>
          </a:p>
        </p:txBody>
      </p:sp>
      <p:sp>
        <p:nvSpPr>
          <p:cNvPr id="3" name="Content Placeholder 2">
            <a:extLst>
              <a:ext uri="{FF2B5EF4-FFF2-40B4-BE49-F238E27FC236}">
                <a16:creationId xmlns:a16="http://schemas.microsoft.com/office/drawing/2014/main" id="{820AA089-B076-27AA-6010-3B091353391B}"/>
              </a:ext>
            </a:extLst>
          </p:cNvPr>
          <p:cNvSpPr>
            <a:spLocks noGrp="1"/>
          </p:cNvSpPr>
          <p:nvPr>
            <p:ph idx="1"/>
          </p:nvPr>
        </p:nvSpPr>
        <p:spPr>
          <a:xfrm>
            <a:off x="838200" y="2564606"/>
            <a:ext cx="10515600" cy="3798487"/>
          </a:xfrm>
        </p:spPr>
        <p:txBody>
          <a:bodyPr/>
          <a:lstStyle/>
          <a:p>
            <a:r>
              <a:rPr lang="en-US" sz="2400" b="1" dirty="0"/>
              <a:t>Linear embedding (PCA)</a:t>
            </a:r>
            <a:r>
              <a:rPr lang="en-US" sz="2400" dirty="0"/>
              <a:t>:</a:t>
            </a:r>
          </a:p>
          <a:p>
            <a:pPr lvl="1"/>
            <a:r>
              <a:rPr lang="en-US" sz="2000" dirty="0"/>
              <a:t>Variance is distributed across many components</a:t>
            </a:r>
          </a:p>
          <a:p>
            <a:pPr lvl="1"/>
            <a:r>
              <a:rPr lang="en-US" sz="2000" dirty="0"/>
              <a:t>No small set of dimensions captures most of the information</a:t>
            </a:r>
          </a:p>
          <a:p>
            <a:r>
              <a:rPr lang="en-US" sz="2400" b="1" dirty="0"/>
              <a:t>Non-linear embedding (UMAP)</a:t>
            </a:r>
            <a:r>
              <a:rPr lang="en-US" sz="2400" dirty="0"/>
              <a:t>:</a:t>
            </a:r>
          </a:p>
          <a:p>
            <a:pPr lvl="1"/>
            <a:r>
              <a:rPr lang="en-US" sz="2000" dirty="0"/>
              <a:t>Speech samples form multiple local structures rather than a single cluster</a:t>
            </a:r>
          </a:p>
          <a:p>
            <a:pPr lvl="1"/>
            <a:r>
              <a:rPr lang="en-US" sz="2000" dirty="0"/>
              <a:t>Parkinson’s and control recordings are intermixed, with no clean global separation</a:t>
            </a:r>
          </a:p>
          <a:p>
            <a:r>
              <a:rPr lang="en-US" sz="2400" b="1" dirty="0"/>
              <a:t>Key Insight</a:t>
            </a:r>
            <a:r>
              <a:rPr lang="en-US" sz="2400" dirty="0"/>
              <a:t>:</a:t>
            </a:r>
          </a:p>
          <a:p>
            <a:pPr lvl="1"/>
            <a:r>
              <a:rPr lang="en-US" sz="2000" dirty="0"/>
              <a:t>Parkinson’s-related voice differences are subtle and distributed across the feature space</a:t>
            </a:r>
          </a:p>
          <a:p>
            <a:pPr lvl="1"/>
            <a:r>
              <a:rPr lang="en-US" sz="2000" dirty="0"/>
              <a:t>Effective models must integrate multiple weak signals, not rely on a few dominant features</a:t>
            </a:r>
          </a:p>
        </p:txBody>
      </p:sp>
    </p:spTree>
    <p:extLst>
      <p:ext uri="{BB962C8B-B14F-4D97-AF65-F5344CB8AC3E}">
        <p14:creationId xmlns:p14="http://schemas.microsoft.com/office/powerpoint/2010/main" val="3303138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BB69C-8BED-6BDC-F71C-B19FC9CFB96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2B16461-9EAB-A4D7-EEA3-EF011E93D0D6}"/>
              </a:ext>
            </a:extLst>
          </p:cNvPr>
          <p:cNvPicPr>
            <a:picLocks noChangeAspect="1"/>
          </p:cNvPicPr>
          <p:nvPr/>
        </p:nvPicPr>
        <p:blipFill>
          <a:blip r:embed="rId2"/>
          <a:stretch>
            <a:fillRect/>
          </a:stretch>
        </p:blipFill>
        <p:spPr>
          <a:xfrm>
            <a:off x="968465" y="1017448"/>
            <a:ext cx="5591823" cy="2779977"/>
          </a:xfrm>
          <a:prstGeom prst="rect">
            <a:avLst/>
          </a:prstGeom>
        </p:spPr>
      </p:pic>
      <p:pic>
        <p:nvPicPr>
          <p:cNvPr id="5" name="Picture 4">
            <a:extLst>
              <a:ext uri="{FF2B5EF4-FFF2-40B4-BE49-F238E27FC236}">
                <a16:creationId xmlns:a16="http://schemas.microsoft.com/office/drawing/2014/main" id="{8BADAC96-524E-CFB7-5FF0-2F8C94CFB9CC}"/>
              </a:ext>
            </a:extLst>
          </p:cNvPr>
          <p:cNvPicPr>
            <a:picLocks noChangeAspect="1"/>
          </p:cNvPicPr>
          <p:nvPr/>
        </p:nvPicPr>
        <p:blipFill>
          <a:blip r:embed="rId3"/>
          <a:stretch>
            <a:fillRect/>
          </a:stretch>
        </p:blipFill>
        <p:spPr>
          <a:xfrm>
            <a:off x="6759388" y="1017447"/>
            <a:ext cx="4464147" cy="2656799"/>
          </a:xfrm>
          <a:prstGeom prst="rect">
            <a:avLst/>
          </a:prstGeom>
        </p:spPr>
      </p:pic>
      <p:pic>
        <p:nvPicPr>
          <p:cNvPr id="6" name="Picture 5">
            <a:extLst>
              <a:ext uri="{FF2B5EF4-FFF2-40B4-BE49-F238E27FC236}">
                <a16:creationId xmlns:a16="http://schemas.microsoft.com/office/drawing/2014/main" id="{12B83ECA-41C0-97BD-4DE7-31C3DCDDFBC9}"/>
              </a:ext>
            </a:extLst>
          </p:cNvPr>
          <p:cNvPicPr>
            <a:picLocks noChangeAspect="1"/>
          </p:cNvPicPr>
          <p:nvPr/>
        </p:nvPicPr>
        <p:blipFill>
          <a:blip r:embed="rId4"/>
          <a:stretch>
            <a:fillRect/>
          </a:stretch>
        </p:blipFill>
        <p:spPr>
          <a:xfrm>
            <a:off x="887636" y="3797425"/>
            <a:ext cx="3285641" cy="2779977"/>
          </a:xfrm>
          <a:prstGeom prst="rect">
            <a:avLst/>
          </a:prstGeom>
        </p:spPr>
      </p:pic>
      <p:pic>
        <p:nvPicPr>
          <p:cNvPr id="7" name="Picture 6">
            <a:extLst>
              <a:ext uri="{FF2B5EF4-FFF2-40B4-BE49-F238E27FC236}">
                <a16:creationId xmlns:a16="http://schemas.microsoft.com/office/drawing/2014/main" id="{D3878FE5-6265-C12C-AB12-AA55282CDE6A}"/>
              </a:ext>
            </a:extLst>
          </p:cNvPr>
          <p:cNvPicPr>
            <a:picLocks noChangeAspect="1"/>
          </p:cNvPicPr>
          <p:nvPr/>
        </p:nvPicPr>
        <p:blipFill>
          <a:blip r:embed="rId5"/>
          <a:stretch>
            <a:fillRect/>
          </a:stretch>
        </p:blipFill>
        <p:spPr>
          <a:xfrm>
            <a:off x="4737906" y="3827499"/>
            <a:ext cx="3218211" cy="2749903"/>
          </a:xfrm>
          <a:prstGeom prst="rect">
            <a:avLst/>
          </a:prstGeom>
        </p:spPr>
      </p:pic>
      <p:pic>
        <p:nvPicPr>
          <p:cNvPr id="8" name="Picture 7">
            <a:extLst>
              <a:ext uri="{FF2B5EF4-FFF2-40B4-BE49-F238E27FC236}">
                <a16:creationId xmlns:a16="http://schemas.microsoft.com/office/drawing/2014/main" id="{C99732A3-1829-2007-748D-1B37A2EA935D}"/>
              </a:ext>
            </a:extLst>
          </p:cNvPr>
          <p:cNvPicPr>
            <a:picLocks noChangeAspect="1"/>
          </p:cNvPicPr>
          <p:nvPr/>
        </p:nvPicPr>
        <p:blipFill>
          <a:blip r:embed="rId6"/>
          <a:stretch>
            <a:fillRect/>
          </a:stretch>
        </p:blipFill>
        <p:spPr>
          <a:xfrm>
            <a:off x="8520746" y="3890412"/>
            <a:ext cx="2997843" cy="2624075"/>
          </a:xfrm>
          <a:prstGeom prst="rect">
            <a:avLst/>
          </a:prstGeom>
        </p:spPr>
      </p:pic>
    </p:spTree>
    <p:extLst>
      <p:ext uri="{BB962C8B-B14F-4D97-AF65-F5344CB8AC3E}">
        <p14:creationId xmlns:p14="http://schemas.microsoft.com/office/powerpoint/2010/main" val="2766367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D01A2-1994-AE42-75A3-0A7A96A4716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6D21434-E1CC-78E9-9D17-DFFC007D7EFC}"/>
              </a:ext>
            </a:extLst>
          </p:cNvPr>
          <p:cNvPicPr>
            <a:picLocks noChangeAspect="1"/>
          </p:cNvPicPr>
          <p:nvPr/>
        </p:nvPicPr>
        <p:blipFill>
          <a:blip r:embed="rId2"/>
          <a:stretch>
            <a:fillRect/>
          </a:stretch>
        </p:blipFill>
        <p:spPr>
          <a:xfrm>
            <a:off x="143995" y="1012822"/>
            <a:ext cx="7697188" cy="5715605"/>
          </a:xfrm>
          <a:prstGeom prst="rect">
            <a:avLst/>
          </a:prstGeom>
        </p:spPr>
      </p:pic>
      <p:sp>
        <p:nvSpPr>
          <p:cNvPr id="4" name="TextBox 3">
            <a:extLst>
              <a:ext uri="{FF2B5EF4-FFF2-40B4-BE49-F238E27FC236}">
                <a16:creationId xmlns:a16="http://schemas.microsoft.com/office/drawing/2014/main" id="{AD47052B-814B-75F2-4073-65C464C7A2ED}"/>
              </a:ext>
            </a:extLst>
          </p:cNvPr>
          <p:cNvSpPr txBox="1"/>
          <p:nvPr/>
        </p:nvSpPr>
        <p:spPr>
          <a:xfrm>
            <a:off x="8245784" y="1666959"/>
            <a:ext cx="3511944" cy="1754326"/>
          </a:xfrm>
          <a:prstGeom prst="rect">
            <a:avLst/>
          </a:prstGeom>
          <a:noFill/>
        </p:spPr>
        <p:txBody>
          <a:bodyPr wrap="square" rtlCol="0">
            <a:spAutoFit/>
          </a:bodyPr>
          <a:lstStyle/>
          <a:p>
            <a:r>
              <a:rPr lang="en-US" b="1" dirty="0"/>
              <a:t>Progressive Feature Selection</a:t>
            </a:r>
          </a:p>
          <a:p>
            <a:endParaRPr lang="en-US" dirty="0"/>
          </a:p>
          <a:p>
            <a:r>
              <a:rPr lang="en-US" dirty="0"/>
              <a:t>As expected, retaining the most important features sequentially does not improve the model and performance keeps deteriorating. </a:t>
            </a:r>
          </a:p>
        </p:txBody>
      </p:sp>
    </p:spTree>
    <p:extLst>
      <p:ext uri="{BB962C8B-B14F-4D97-AF65-F5344CB8AC3E}">
        <p14:creationId xmlns:p14="http://schemas.microsoft.com/office/powerpoint/2010/main" val="2457558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E0673-69BE-9729-221C-F926160703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29CAA-929C-C721-D37C-DBC1713401C3}"/>
              </a:ext>
            </a:extLst>
          </p:cNvPr>
          <p:cNvSpPr>
            <a:spLocks noGrp="1"/>
          </p:cNvSpPr>
          <p:nvPr>
            <p:ph type="title"/>
          </p:nvPr>
        </p:nvSpPr>
        <p:spPr/>
        <p:txBody>
          <a:bodyPr/>
          <a:lstStyle/>
          <a:p>
            <a:r>
              <a:rPr lang="en-US" dirty="0"/>
              <a:t>Insights</a:t>
            </a:r>
          </a:p>
        </p:txBody>
      </p:sp>
      <p:sp>
        <p:nvSpPr>
          <p:cNvPr id="3" name="Content Placeholder 2">
            <a:extLst>
              <a:ext uri="{FF2B5EF4-FFF2-40B4-BE49-F238E27FC236}">
                <a16:creationId xmlns:a16="http://schemas.microsoft.com/office/drawing/2014/main" id="{64AC2A1E-4DBF-6854-16A7-CBD89F369897}"/>
              </a:ext>
            </a:extLst>
          </p:cNvPr>
          <p:cNvSpPr>
            <a:spLocks noGrp="1"/>
          </p:cNvSpPr>
          <p:nvPr>
            <p:ph idx="1"/>
          </p:nvPr>
        </p:nvSpPr>
        <p:spPr/>
        <p:txBody>
          <a:bodyPr/>
          <a:lstStyle/>
          <a:p>
            <a:r>
              <a:rPr lang="en-US" sz="2000" b="1" dirty="0"/>
              <a:t>PCA:</a:t>
            </a:r>
            <a:r>
              <a:rPr lang="en-US" sz="2000" dirty="0"/>
              <a:t> Variance is spread across many dimensions → no simple compression</a:t>
            </a:r>
          </a:p>
          <a:p>
            <a:r>
              <a:rPr lang="en-US" sz="2000" b="1" dirty="0"/>
              <a:t>Raw-feature UMAP:</a:t>
            </a:r>
            <a:r>
              <a:rPr lang="en-US" sz="2000" dirty="0"/>
              <a:t> Acoustic heterogeneity dominates over disease labels</a:t>
            </a:r>
          </a:p>
          <a:p>
            <a:r>
              <a:rPr lang="en-US" sz="2000" b="1" dirty="0"/>
              <a:t>SHAP-space UMAP:</a:t>
            </a:r>
            <a:r>
              <a:rPr lang="en-US" sz="2000" dirty="0"/>
              <a:t> Predictive signal emerges via distributed, cross-domain feature usage</a:t>
            </a:r>
          </a:p>
          <a:p>
            <a:r>
              <a:rPr lang="en-US" sz="2000" b="1" dirty="0"/>
              <a:t>High-level conclusion: </a:t>
            </a:r>
            <a:r>
              <a:rPr lang="en-US" sz="2000" dirty="0"/>
              <a:t>Parkinson’s-related voice differences are subtle, distributed, and context-dependent, requiring models that integrate multiple weak signals rather than relying on dominant acoustic markers.</a:t>
            </a:r>
          </a:p>
          <a:p>
            <a:endParaRPr lang="en-US" sz="2000" dirty="0"/>
          </a:p>
        </p:txBody>
      </p:sp>
    </p:spTree>
    <p:extLst>
      <p:ext uri="{BB962C8B-B14F-4D97-AF65-F5344CB8AC3E}">
        <p14:creationId xmlns:p14="http://schemas.microsoft.com/office/powerpoint/2010/main" val="2204933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54D54-DF3E-0979-F9F2-4CA2DAC1BA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0F331-99F8-D6EC-0639-45C252740487}"/>
              </a:ext>
            </a:extLst>
          </p:cNvPr>
          <p:cNvSpPr>
            <a:spLocks noGrp="1"/>
          </p:cNvSpPr>
          <p:nvPr>
            <p:ph type="title"/>
          </p:nvPr>
        </p:nvSpPr>
        <p:spPr/>
        <p:txBody>
          <a:bodyPr>
            <a:normAutofit/>
          </a:bodyPr>
          <a:lstStyle/>
          <a:p>
            <a:r>
              <a:rPr lang="en-US" dirty="0"/>
              <a:t>Overall Analysis Pipeline</a:t>
            </a:r>
          </a:p>
        </p:txBody>
      </p:sp>
      <p:sp>
        <p:nvSpPr>
          <p:cNvPr id="3" name="Content Placeholder 2">
            <a:extLst>
              <a:ext uri="{FF2B5EF4-FFF2-40B4-BE49-F238E27FC236}">
                <a16:creationId xmlns:a16="http://schemas.microsoft.com/office/drawing/2014/main" id="{A8286B5A-33E4-E0E8-8D48-4A2F7E276673}"/>
              </a:ext>
            </a:extLst>
          </p:cNvPr>
          <p:cNvSpPr>
            <a:spLocks noGrp="1"/>
          </p:cNvSpPr>
          <p:nvPr>
            <p:ph idx="1"/>
          </p:nvPr>
        </p:nvSpPr>
        <p:spPr>
          <a:xfrm>
            <a:off x="838200" y="2564606"/>
            <a:ext cx="10515600" cy="3798487"/>
          </a:xfrm>
        </p:spPr>
        <p:txBody>
          <a:bodyPr/>
          <a:lstStyle/>
          <a:p>
            <a:pPr marL="0" indent="0">
              <a:buNone/>
            </a:pPr>
            <a:r>
              <a:rPr lang="en-US" sz="2200" b="1" dirty="0"/>
              <a:t>Input</a:t>
            </a:r>
            <a:r>
              <a:rPr lang="en-US" sz="2200" dirty="0"/>
              <a:t>: Standardized voice recordings → static acoustic features</a:t>
            </a:r>
          </a:p>
          <a:p>
            <a:pPr marL="0" indent="0">
              <a:buNone/>
            </a:pPr>
            <a:r>
              <a:rPr lang="en-US" sz="2200" b="1" dirty="0"/>
              <a:t>Feature Structure Analysis</a:t>
            </a:r>
            <a:r>
              <a:rPr lang="en-US" sz="2200" dirty="0"/>
              <a:t>: Correlation analysis and hierarchical clustering of acoustic features</a:t>
            </a:r>
          </a:p>
          <a:p>
            <a:pPr marL="0" indent="0">
              <a:buNone/>
            </a:pPr>
            <a:r>
              <a:rPr lang="en-US" sz="2200" b="1" dirty="0"/>
              <a:t>Feature Representation</a:t>
            </a:r>
            <a:r>
              <a:rPr lang="en-US" sz="2200" dirty="0"/>
              <a:t>: Construction of cluster-aggregated acoustic features</a:t>
            </a:r>
          </a:p>
          <a:p>
            <a:pPr marL="0" indent="0">
              <a:buNone/>
            </a:pPr>
            <a:r>
              <a:rPr lang="en-US" sz="2200" b="1" dirty="0"/>
              <a:t>Modeling</a:t>
            </a:r>
            <a:r>
              <a:rPr lang="en-US" sz="2200" dirty="0"/>
              <a:t>: Training classical machine learning models on raw and clustered features</a:t>
            </a:r>
          </a:p>
          <a:p>
            <a:pPr marL="0" indent="0">
              <a:buNone/>
            </a:pPr>
            <a:r>
              <a:rPr lang="en-US" sz="2200" b="1" dirty="0"/>
              <a:t>Evaluation</a:t>
            </a:r>
            <a:r>
              <a:rPr lang="en-US" sz="2200" dirty="0"/>
              <a:t>: Recording-level and patient-level performance assessment</a:t>
            </a:r>
          </a:p>
          <a:p>
            <a:pPr marL="0" indent="0">
              <a:buNone/>
            </a:pPr>
            <a:r>
              <a:rPr lang="en-US" sz="2200" dirty="0"/>
              <a:t>Leakage-aware cross-validation</a:t>
            </a:r>
          </a:p>
          <a:p>
            <a:pPr marL="0" indent="0">
              <a:buNone/>
            </a:pPr>
            <a:r>
              <a:rPr lang="en-US" sz="2200" b="1" dirty="0"/>
              <a:t>Interpretation</a:t>
            </a:r>
            <a:r>
              <a:rPr lang="en-US" sz="2200" dirty="0"/>
              <a:t>: Analysis of cluster contributions to model predictions</a:t>
            </a:r>
          </a:p>
          <a:p>
            <a:pPr marL="0" indent="0">
              <a:buNone/>
            </a:pPr>
            <a:endParaRPr lang="en-US" sz="2200" dirty="0"/>
          </a:p>
        </p:txBody>
      </p:sp>
    </p:spTree>
    <p:extLst>
      <p:ext uri="{BB962C8B-B14F-4D97-AF65-F5344CB8AC3E}">
        <p14:creationId xmlns:p14="http://schemas.microsoft.com/office/powerpoint/2010/main" val="3147492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53D4C-ADD8-BEAE-C4CE-CC54439A4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DB6B1-8824-19C6-E792-79270ED6F9C5}"/>
              </a:ext>
            </a:extLst>
          </p:cNvPr>
          <p:cNvSpPr>
            <a:spLocks noGrp="1"/>
          </p:cNvSpPr>
          <p:nvPr>
            <p:ph type="title"/>
          </p:nvPr>
        </p:nvSpPr>
        <p:spPr/>
        <p:txBody>
          <a:bodyPr>
            <a:normAutofit/>
          </a:bodyPr>
          <a:lstStyle/>
          <a:p>
            <a:r>
              <a:rPr lang="en-US" dirty="0"/>
              <a:t>Feature Clustering Methodology</a:t>
            </a:r>
          </a:p>
        </p:txBody>
      </p:sp>
      <p:sp>
        <p:nvSpPr>
          <p:cNvPr id="3" name="Content Placeholder 2">
            <a:extLst>
              <a:ext uri="{FF2B5EF4-FFF2-40B4-BE49-F238E27FC236}">
                <a16:creationId xmlns:a16="http://schemas.microsoft.com/office/drawing/2014/main" id="{EE268187-D768-F153-673D-87BF533186EA}"/>
              </a:ext>
            </a:extLst>
          </p:cNvPr>
          <p:cNvSpPr>
            <a:spLocks noGrp="1"/>
          </p:cNvSpPr>
          <p:nvPr>
            <p:ph idx="1"/>
          </p:nvPr>
        </p:nvSpPr>
        <p:spPr>
          <a:xfrm>
            <a:off x="838200" y="2564606"/>
            <a:ext cx="10515600" cy="3798487"/>
          </a:xfrm>
        </p:spPr>
        <p:txBody>
          <a:bodyPr/>
          <a:lstStyle/>
          <a:p>
            <a:r>
              <a:rPr lang="en-US" sz="2400" b="1" dirty="0"/>
              <a:t>Goal</a:t>
            </a:r>
            <a:r>
              <a:rPr lang="en-US" sz="2400" dirty="0"/>
              <a:t>: Identify coherent groups of acoustic features that capture related speech properties</a:t>
            </a:r>
          </a:p>
          <a:p>
            <a:r>
              <a:rPr lang="en-US" sz="2400" b="1" dirty="0"/>
              <a:t>Approach</a:t>
            </a:r>
            <a:r>
              <a:rPr lang="en-US" sz="2400" dirty="0"/>
              <a:t>:</a:t>
            </a:r>
          </a:p>
          <a:p>
            <a:pPr lvl="1"/>
            <a:r>
              <a:rPr lang="en-US" sz="1800" dirty="0"/>
              <a:t>Compute pairwise correlations between all acoustic features</a:t>
            </a:r>
          </a:p>
          <a:p>
            <a:pPr lvl="1"/>
            <a:r>
              <a:rPr lang="en-US" sz="1800" dirty="0"/>
              <a:t>Define feature similarity based on absolute correlation</a:t>
            </a:r>
          </a:p>
          <a:p>
            <a:r>
              <a:rPr lang="en-US" sz="2400" b="1" dirty="0"/>
              <a:t>Clustering</a:t>
            </a:r>
            <a:r>
              <a:rPr lang="en-US" sz="2400" dirty="0"/>
              <a:t>:</a:t>
            </a:r>
          </a:p>
          <a:p>
            <a:pPr lvl="1"/>
            <a:r>
              <a:rPr lang="en-US" sz="1800" dirty="0"/>
              <a:t>Apply hierarchical clustering to group correlated features</a:t>
            </a:r>
          </a:p>
          <a:p>
            <a:pPr lvl="1"/>
            <a:r>
              <a:rPr lang="en-US" sz="1800" dirty="0"/>
              <a:t>Explore multiple cluster resolutions to capture structure at different granularities</a:t>
            </a:r>
          </a:p>
          <a:p>
            <a:r>
              <a:rPr lang="en-US" sz="2400" b="1" dirty="0"/>
              <a:t>Rationale</a:t>
            </a:r>
            <a:r>
              <a:rPr lang="en-US" sz="2400" dirty="0"/>
              <a:t>:</a:t>
            </a:r>
          </a:p>
          <a:p>
            <a:pPr lvl="1"/>
            <a:r>
              <a:rPr lang="en-US" sz="1800" dirty="0"/>
              <a:t>Groups features that move together across recordings</a:t>
            </a:r>
          </a:p>
          <a:p>
            <a:pPr lvl="1"/>
            <a:r>
              <a:rPr lang="en-US" sz="1800" dirty="0"/>
              <a:t>Reduces redundancy while preserving meaningful acoustic relationships</a:t>
            </a:r>
          </a:p>
        </p:txBody>
      </p:sp>
    </p:spTree>
    <p:extLst>
      <p:ext uri="{BB962C8B-B14F-4D97-AF65-F5344CB8AC3E}">
        <p14:creationId xmlns:p14="http://schemas.microsoft.com/office/powerpoint/2010/main" val="2521034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EE24F-2973-4614-4DAD-806B7AC3B2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B9CE39-EEAD-3BB0-8837-D517ADF45535}"/>
              </a:ext>
            </a:extLst>
          </p:cNvPr>
          <p:cNvSpPr>
            <a:spLocks noGrp="1"/>
          </p:cNvSpPr>
          <p:nvPr>
            <p:ph type="title"/>
          </p:nvPr>
        </p:nvSpPr>
        <p:spPr/>
        <p:txBody>
          <a:bodyPr>
            <a:normAutofit/>
          </a:bodyPr>
          <a:lstStyle/>
          <a:p>
            <a:r>
              <a:rPr lang="en-US" dirty="0"/>
              <a:t>Cluster Aggregation Strategy</a:t>
            </a:r>
          </a:p>
        </p:txBody>
      </p:sp>
      <p:sp>
        <p:nvSpPr>
          <p:cNvPr id="3" name="Content Placeholder 2">
            <a:extLst>
              <a:ext uri="{FF2B5EF4-FFF2-40B4-BE49-F238E27FC236}">
                <a16:creationId xmlns:a16="http://schemas.microsoft.com/office/drawing/2014/main" id="{D952ED36-4E09-8B47-7BA3-0ACE0A7072F0}"/>
              </a:ext>
            </a:extLst>
          </p:cNvPr>
          <p:cNvSpPr>
            <a:spLocks noGrp="1"/>
          </p:cNvSpPr>
          <p:nvPr>
            <p:ph idx="1"/>
          </p:nvPr>
        </p:nvSpPr>
        <p:spPr>
          <a:xfrm>
            <a:off x="838200" y="2564606"/>
            <a:ext cx="10515600" cy="3798487"/>
          </a:xfrm>
        </p:spPr>
        <p:txBody>
          <a:bodyPr/>
          <a:lstStyle/>
          <a:p>
            <a:r>
              <a:rPr lang="en-US" sz="2000" b="1" dirty="0"/>
              <a:t>Objective</a:t>
            </a:r>
            <a:r>
              <a:rPr lang="en-US" sz="2000" dirty="0"/>
              <a:t>: Convert feature clusters into compact, interpretable representations</a:t>
            </a:r>
          </a:p>
          <a:p>
            <a:r>
              <a:rPr lang="en-US" sz="2000" b="1" dirty="0"/>
              <a:t>Method</a:t>
            </a:r>
            <a:r>
              <a:rPr lang="en-US" sz="2000" dirty="0"/>
              <a:t>: Aggregate features within each cluster using simple summary statistics</a:t>
            </a:r>
          </a:p>
          <a:p>
            <a:r>
              <a:rPr lang="en-US" sz="2000" b="1" dirty="0"/>
              <a:t>Primary aggregation</a:t>
            </a:r>
            <a:r>
              <a:rPr lang="en-US" sz="2000" dirty="0"/>
              <a:t>: mean, alternative aggregations explored (e.g., median, PCA-based summaries)</a:t>
            </a:r>
          </a:p>
          <a:p>
            <a:r>
              <a:rPr lang="en-US" sz="2000" dirty="0"/>
              <a:t>Output:</a:t>
            </a:r>
          </a:p>
          <a:p>
            <a:pPr lvl="1"/>
            <a:r>
              <a:rPr lang="en-US" sz="1800" dirty="0"/>
              <a:t>Original 131 features → K cluster-level features</a:t>
            </a:r>
          </a:p>
          <a:p>
            <a:pPr lvl="1"/>
            <a:r>
              <a:rPr lang="en-US" sz="1800" dirty="0"/>
              <a:t>Enables controlled dimensionality reduction</a:t>
            </a:r>
          </a:p>
          <a:p>
            <a:r>
              <a:rPr lang="en-US" sz="2000" dirty="0"/>
              <a:t>Rationale:</a:t>
            </a:r>
          </a:p>
          <a:p>
            <a:pPr lvl="1"/>
            <a:r>
              <a:rPr lang="en-US" sz="1800" dirty="0"/>
              <a:t>Simple aggregation improves stability and interpretability</a:t>
            </a:r>
          </a:p>
          <a:p>
            <a:pPr lvl="1"/>
            <a:r>
              <a:rPr lang="en-US" sz="1800" dirty="0"/>
              <a:t>Avoids overfitting associated with high-dimensional raw features</a:t>
            </a:r>
            <a:endParaRPr lang="en-US" sz="1200" dirty="0"/>
          </a:p>
        </p:txBody>
      </p:sp>
    </p:spTree>
    <p:extLst>
      <p:ext uri="{BB962C8B-B14F-4D97-AF65-F5344CB8AC3E}">
        <p14:creationId xmlns:p14="http://schemas.microsoft.com/office/powerpoint/2010/main" val="2144277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C26A4-DB16-F545-ACD7-51EB7E4C69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FE901-4EB7-3805-0E15-F9889AE63146}"/>
              </a:ext>
            </a:extLst>
          </p:cNvPr>
          <p:cNvSpPr>
            <a:spLocks noGrp="1"/>
          </p:cNvSpPr>
          <p:nvPr>
            <p:ph type="title"/>
          </p:nvPr>
        </p:nvSpPr>
        <p:spPr/>
        <p:txBody>
          <a:bodyPr>
            <a:normAutofit/>
          </a:bodyPr>
          <a:lstStyle/>
          <a:p>
            <a:r>
              <a:rPr lang="en-US" sz="4300" dirty="0"/>
              <a:t>Model Training and Evaluation Framework</a:t>
            </a:r>
          </a:p>
        </p:txBody>
      </p:sp>
      <p:sp>
        <p:nvSpPr>
          <p:cNvPr id="3" name="Content Placeholder 2">
            <a:extLst>
              <a:ext uri="{FF2B5EF4-FFF2-40B4-BE49-F238E27FC236}">
                <a16:creationId xmlns:a16="http://schemas.microsoft.com/office/drawing/2014/main" id="{751F1FCB-91B3-784C-8938-F281ABA9E29F}"/>
              </a:ext>
            </a:extLst>
          </p:cNvPr>
          <p:cNvSpPr>
            <a:spLocks noGrp="1"/>
          </p:cNvSpPr>
          <p:nvPr>
            <p:ph idx="1"/>
          </p:nvPr>
        </p:nvSpPr>
        <p:spPr>
          <a:xfrm>
            <a:off x="838200" y="2564606"/>
            <a:ext cx="4839119" cy="3798487"/>
          </a:xfrm>
        </p:spPr>
        <p:txBody>
          <a:bodyPr/>
          <a:lstStyle/>
          <a:p>
            <a:r>
              <a:rPr lang="en-US" sz="2000" b="1" dirty="0"/>
              <a:t>Models Evaluated</a:t>
            </a:r>
            <a:r>
              <a:rPr lang="en-US" sz="2000" dirty="0"/>
              <a:t>:</a:t>
            </a:r>
          </a:p>
          <a:p>
            <a:pPr lvl="1"/>
            <a:r>
              <a:rPr lang="en-US" sz="1600" dirty="0"/>
              <a:t>Logistic Regression</a:t>
            </a:r>
          </a:p>
          <a:p>
            <a:pPr lvl="1"/>
            <a:r>
              <a:rPr lang="en-US" sz="1600" dirty="0"/>
              <a:t>Random Forest</a:t>
            </a:r>
          </a:p>
          <a:p>
            <a:pPr lvl="1"/>
            <a:r>
              <a:rPr lang="en-US" sz="1600" dirty="0"/>
              <a:t>Gradient Boosting</a:t>
            </a:r>
          </a:p>
          <a:p>
            <a:pPr lvl="1"/>
            <a:r>
              <a:rPr lang="en-US" sz="1600" dirty="0"/>
              <a:t>Neural Network (regularized)</a:t>
            </a:r>
          </a:p>
          <a:p>
            <a:r>
              <a:rPr lang="en-US" sz="2000" b="1" dirty="0"/>
              <a:t>Training Setup</a:t>
            </a:r>
            <a:r>
              <a:rPr lang="en-US" sz="2000" dirty="0"/>
              <a:t>:</a:t>
            </a:r>
          </a:p>
          <a:p>
            <a:pPr lvl="1"/>
            <a:r>
              <a:rPr lang="en-US" sz="1600" dirty="0"/>
              <a:t>Models trained on raw features and cluster-aggregated features</a:t>
            </a:r>
          </a:p>
          <a:p>
            <a:r>
              <a:rPr lang="en-US" sz="2000" b="1" dirty="0"/>
              <a:t>Validation Strategy</a:t>
            </a:r>
            <a:r>
              <a:rPr lang="en-US" sz="2000" dirty="0"/>
              <a:t>:</a:t>
            </a:r>
          </a:p>
          <a:p>
            <a:pPr lvl="1"/>
            <a:r>
              <a:rPr lang="en-US" sz="1600" dirty="0"/>
              <a:t>Patient-level separation across training and validation folds</a:t>
            </a:r>
          </a:p>
          <a:p>
            <a:pPr lvl="1"/>
            <a:r>
              <a:rPr lang="en-US" sz="1600" dirty="0"/>
              <a:t>Prevents data leakage from multiple recordings per participant</a:t>
            </a:r>
            <a:endParaRPr lang="en-US" sz="2000" dirty="0"/>
          </a:p>
        </p:txBody>
      </p:sp>
      <p:sp>
        <p:nvSpPr>
          <p:cNvPr id="4" name="Content Placeholder 2">
            <a:extLst>
              <a:ext uri="{FF2B5EF4-FFF2-40B4-BE49-F238E27FC236}">
                <a16:creationId xmlns:a16="http://schemas.microsoft.com/office/drawing/2014/main" id="{6821F194-95A5-45AF-7769-4576D71B949A}"/>
              </a:ext>
            </a:extLst>
          </p:cNvPr>
          <p:cNvSpPr txBox="1">
            <a:spLocks/>
          </p:cNvSpPr>
          <p:nvPr/>
        </p:nvSpPr>
        <p:spPr>
          <a:xfrm>
            <a:off x="6265985" y="2564605"/>
            <a:ext cx="4839119" cy="37984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Data Scenarios</a:t>
            </a:r>
          </a:p>
          <a:p>
            <a:pPr lvl="1"/>
            <a:r>
              <a:rPr lang="en-US" sz="1600" dirty="0"/>
              <a:t>Raw dataset with 131 features</a:t>
            </a:r>
          </a:p>
          <a:p>
            <a:pPr lvl="1"/>
            <a:r>
              <a:rPr lang="en-US" sz="1600" dirty="0"/>
              <a:t>14 feature clusters with different aggregations</a:t>
            </a:r>
          </a:p>
          <a:p>
            <a:r>
              <a:rPr lang="en-US" sz="2000" b="1" dirty="0"/>
              <a:t>Evaluation Levels</a:t>
            </a:r>
            <a:r>
              <a:rPr lang="en-US" sz="2000" dirty="0"/>
              <a:t>:</a:t>
            </a:r>
          </a:p>
          <a:p>
            <a:pPr lvl="1"/>
            <a:r>
              <a:rPr lang="en-US" sz="1600" dirty="0"/>
              <a:t>Recording-level performance</a:t>
            </a:r>
          </a:p>
          <a:p>
            <a:pPr lvl="1"/>
            <a:r>
              <a:rPr lang="en-US" sz="1600" dirty="0"/>
              <a:t>Patient-level performance via aggregation across recordings</a:t>
            </a:r>
          </a:p>
          <a:p>
            <a:r>
              <a:rPr lang="en-US" sz="2000" b="1" dirty="0"/>
              <a:t>Performance Metrics</a:t>
            </a:r>
            <a:r>
              <a:rPr lang="en-US" sz="2000" dirty="0"/>
              <a:t>:</a:t>
            </a:r>
          </a:p>
          <a:p>
            <a:pPr lvl="1"/>
            <a:r>
              <a:rPr lang="en-US" sz="1600" dirty="0"/>
              <a:t>Primary: ROC-AUC</a:t>
            </a:r>
          </a:p>
          <a:p>
            <a:pPr lvl="1"/>
            <a:r>
              <a:rPr lang="en-US" sz="1600" dirty="0"/>
              <a:t>Secondary: F1 score, accuracy</a:t>
            </a:r>
          </a:p>
        </p:txBody>
      </p:sp>
    </p:spTree>
    <p:extLst>
      <p:ext uri="{BB962C8B-B14F-4D97-AF65-F5344CB8AC3E}">
        <p14:creationId xmlns:p14="http://schemas.microsoft.com/office/powerpoint/2010/main" val="452584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C211C-F5F4-37F9-B73B-EB8C49094E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302395-C80C-838F-2D03-FE70C345808D}"/>
              </a:ext>
            </a:extLst>
          </p:cNvPr>
          <p:cNvSpPr>
            <a:spLocks noGrp="1"/>
          </p:cNvSpPr>
          <p:nvPr>
            <p:ph type="title"/>
          </p:nvPr>
        </p:nvSpPr>
        <p:spPr/>
        <p:txBody>
          <a:bodyPr>
            <a:normAutofit/>
          </a:bodyPr>
          <a:lstStyle/>
          <a:p>
            <a:r>
              <a:rPr lang="en-US" dirty="0"/>
              <a:t>Baseline Performance</a:t>
            </a:r>
          </a:p>
        </p:txBody>
      </p:sp>
      <p:sp>
        <p:nvSpPr>
          <p:cNvPr id="3" name="Content Placeholder 2">
            <a:extLst>
              <a:ext uri="{FF2B5EF4-FFF2-40B4-BE49-F238E27FC236}">
                <a16:creationId xmlns:a16="http://schemas.microsoft.com/office/drawing/2014/main" id="{5AD3A9D5-031B-DA36-3848-39F07F8E8B9E}"/>
              </a:ext>
            </a:extLst>
          </p:cNvPr>
          <p:cNvSpPr>
            <a:spLocks noGrp="1"/>
          </p:cNvSpPr>
          <p:nvPr>
            <p:ph idx="1"/>
          </p:nvPr>
        </p:nvSpPr>
        <p:spPr>
          <a:xfrm>
            <a:off x="838200" y="2564606"/>
            <a:ext cx="10515600" cy="3798487"/>
          </a:xfrm>
        </p:spPr>
        <p:txBody>
          <a:bodyPr/>
          <a:lstStyle/>
          <a:p>
            <a:r>
              <a:rPr lang="en-US" sz="2400" b="1" dirty="0"/>
              <a:t>Baseline Models</a:t>
            </a:r>
            <a:r>
              <a:rPr lang="en-US" sz="2400" dirty="0"/>
              <a:t>: Trained using the full set of 131 acoustic features</a:t>
            </a:r>
          </a:p>
          <a:p>
            <a:r>
              <a:rPr lang="en-US" sz="2400" b="1" dirty="0"/>
              <a:t>Evaluation</a:t>
            </a:r>
            <a:r>
              <a:rPr lang="en-US" sz="2400" dirty="0"/>
              <a:t>: Assessed at both recording level and patient level</a:t>
            </a:r>
          </a:p>
          <a:p>
            <a:r>
              <a:rPr lang="en-US" sz="2400" b="1" dirty="0"/>
              <a:t>Observations</a:t>
            </a:r>
            <a:r>
              <a:rPr lang="en-US" sz="2400" dirty="0"/>
              <a:t>:</a:t>
            </a:r>
          </a:p>
          <a:p>
            <a:pPr lvl="1"/>
            <a:r>
              <a:rPr lang="en-US" sz="1800" dirty="0"/>
              <a:t>Recording-level performance appears moderate</a:t>
            </a:r>
          </a:p>
          <a:p>
            <a:pPr lvl="1"/>
            <a:r>
              <a:rPr lang="en-US" sz="1800" dirty="0"/>
              <a:t>Patient-level performance is lower and less stable</a:t>
            </a:r>
          </a:p>
          <a:p>
            <a:r>
              <a:rPr lang="en-US" sz="2400" b="1" dirty="0"/>
              <a:t>Interpretation</a:t>
            </a:r>
            <a:r>
              <a:rPr lang="en-US" sz="2400" dirty="0"/>
              <a:t>:</a:t>
            </a:r>
          </a:p>
          <a:p>
            <a:pPr lvl="1"/>
            <a:r>
              <a:rPr lang="en-US" sz="1800" dirty="0"/>
              <a:t>High dimensionality and feature redundancy limit generalization</a:t>
            </a:r>
          </a:p>
          <a:p>
            <a:pPr lvl="1"/>
            <a:r>
              <a:rPr lang="en-US" sz="1800" dirty="0"/>
              <a:t>Baseline models do not fully capture distributed Parkinson’s-related voice patterns</a:t>
            </a:r>
          </a:p>
          <a:p>
            <a:r>
              <a:rPr lang="en-US" sz="2200" dirty="0"/>
              <a:t>Baseline performance is consistent with prior PD voice literature when evaluated at the patient level.</a:t>
            </a:r>
          </a:p>
        </p:txBody>
      </p:sp>
    </p:spTree>
    <p:extLst>
      <p:ext uri="{BB962C8B-B14F-4D97-AF65-F5344CB8AC3E}">
        <p14:creationId xmlns:p14="http://schemas.microsoft.com/office/powerpoint/2010/main" val="815217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BEDF2-3EF8-F39F-0089-7EA196E1E9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279D47-C812-C3A1-AA9A-AE7AEA13F903}"/>
              </a:ext>
            </a:extLst>
          </p:cNvPr>
          <p:cNvSpPr>
            <a:spLocks noGrp="1"/>
          </p:cNvSpPr>
          <p:nvPr>
            <p:ph type="title"/>
          </p:nvPr>
        </p:nvSpPr>
        <p:spPr/>
        <p:txBody>
          <a:bodyPr/>
          <a:lstStyle/>
          <a:p>
            <a:r>
              <a:rPr lang="en-US" dirty="0"/>
              <a:t>Baseline performance – per recording</a:t>
            </a:r>
          </a:p>
        </p:txBody>
      </p:sp>
      <p:sp>
        <p:nvSpPr>
          <p:cNvPr id="3" name="Content Placeholder 2">
            <a:extLst>
              <a:ext uri="{FF2B5EF4-FFF2-40B4-BE49-F238E27FC236}">
                <a16:creationId xmlns:a16="http://schemas.microsoft.com/office/drawing/2014/main" id="{AB14A8C8-30F2-86C7-9C22-407E3987EF5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CF2DB0B-1240-1105-2527-54516AB080D6}"/>
              </a:ext>
            </a:extLst>
          </p:cNvPr>
          <p:cNvPicPr>
            <a:picLocks noChangeAspect="1"/>
          </p:cNvPicPr>
          <p:nvPr/>
        </p:nvPicPr>
        <p:blipFill>
          <a:blip r:embed="rId2"/>
          <a:stretch>
            <a:fillRect/>
          </a:stretch>
        </p:blipFill>
        <p:spPr>
          <a:xfrm>
            <a:off x="0" y="2671763"/>
            <a:ext cx="11978263" cy="3982301"/>
          </a:xfrm>
          <a:prstGeom prst="rect">
            <a:avLst/>
          </a:prstGeom>
        </p:spPr>
      </p:pic>
    </p:spTree>
    <p:extLst>
      <p:ext uri="{BB962C8B-B14F-4D97-AF65-F5344CB8AC3E}">
        <p14:creationId xmlns:p14="http://schemas.microsoft.com/office/powerpoint/2010/main" val="434831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7EC6D-4D61-7C40-3CE1-4D1795173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3C3247-5EC2-9F1D-BE48-A9D3EAF2F60B}"/>
              </a:ext>
            </a:extLst>
          </p:cNvPr>
          <p:cNvSpPr>
            <a:spLocks noGrp="1"/>
          </p:cNvSpPr>
          <p:nvPr>
            <p:ph type="title"/>
          </p:nvPr>
        </p:nvSpPr>
        <p:spPr/>
        <p:txBody>
          <a:bodyPr/>
          <a:lstStyle/>
          <a:p>
            <a:r>
              <a:rPr lang="en-US" dirty="0"/>
              <a:t>Baseline performance – per patient</a:t>
            </a:r>
          </a:p>
        </p:txBody>
      </p:sp>
      <p:pic>
        <p:nvPicPr>
          <p:cNvPr id="5" name="Picture 4">
            <a:extLst>
              <a:ext uri="{FF2B5EF4-FFF2-40B4-BE49-F238E27FC236}">
                <a16:creationId xmlns:a16="http://schemas.microsoft.com/office/drawing/2014/main" id="{FE10EDC1-DF42-53CE-8F97-73AEF41D2A4E}"/>
              </a:ext>
            </a:extLst>
          </p:cNvPr>
          <p:cNvPicPr>
            <a:picLocks noChangeAspect="1"/>
          </p:cNvPicPr>
          <p:nvPr/>
        </p:nvPicPr>
        <p:blipFill>
          <a:blip r:embed="rId2"/>
          <a:stretch>
            <a:fillRect/>
          </a:stretch>
        </p:blipFill>
        <p:spPr>
          <a:xfrm>
            <a:off x="66682" y="2564606"/>
            <a:ext cx="12058635" cy="3243263"/>
          </a:xfrm>
          <a:prstGeom prst="rect">
            <a:avLst/>
          </a:prstGeom>
        </p:spPr>
      </p:pic>
      <p:sp>
        <p:nvSpPr>
          <p:cNvPr id="4" name="TextBox 3">
            <a:extLst>
              <a:ext uri="{FF2B5EF4-FFF2-40B4-BE49-F238E27FC236}">
                <a16:creationId xmlns:a16="http://schemas.microsoft.com/office/drawing/2014/main" id="{0B09CE81-543B-B72A-B96C-C4B6A066FD8E}"/>
              </a:ext>
            </a:extLst>
          </p:cNvPr>
          <p:cNvSpPr txBox="1"/>
          <p:nvPr/>
        </p:nvSpPr>
        <p:spPr>
          <a:xfrm>
            <a:off x="618565" y="5979459"/>
            <a:ext cx="11232776" cy="369332"/>
          </a:xfrm>
          <a:prstGeom prst="rect">
            <a:avLst/>
          </a:prstGeom>
          <a:noFill/>
        </p:spPr>
        <p:txBody>
          <a:bodyPr wrap="square" rtlCol="0">
            <a:spAutoFit/>
          </a:bodyPr>
          <a:lstStyle/>
          <a:p>
            <a:r>
              <a:rPr lang="en-US" dirty="0"/>
              <a:t>Median ~ Mean</a:t>
            </a:r>
          </a:p>
        </p:txBody>
      </p:sp>
    </p:spTree>
    <p:extLst>
      <p:ext uri="{BB962C8B-B14F-4D97-AF65-F5344CB8AC3E}">
        <p14:creationId xmlns:p14="http://schemas.microsoft.com/office/powerpoint/2010/main" val="1200138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776D0-7578-5EFF-F59A-66425679A1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CB3F95-643E-2BF2-79D7-299777BA3EFE}"/>
              </a:ext>
            </a:extLst>
          </p:cNvPr>
          <p:cNvSpPr>
            <a:spLocks noGrp="1"/>
          </p:cNvSpPr>
          <p:nvPr>
            <p:ph type="title"/>
          </p:nvPr>
        </p:nvSpPr>
        <p:spPr/>
        <p:txBody>
          <a:bodyPr>
            <a:normAutofit/>
          </a:bodyPr>
          <a:lstStyle/>
          <a:p>
            <a:r>
              <a:rPr lang="en-US" dirty="0"/>
              <a:t>Cluster-Aggregated Feature Results</a:t>
            </a:r>
          </a:p>
        </p:txBody>
      </p:sp>
      <p:sp>
        <p:nvSpPr>
          <p:cNvPr id="3" name="Content Placeholder 2">
            <a:extLst>
              <a:ext uri="{FF2B5EF4-FFF2-40B4-BE49-F238E27FC236}">
                <a16:creationId xmlns:a16="http://schemas.microsoft.com/office/drawing/2014/main" id="{C68589C5-EEF8-B46E-2A1B-704753480432}"/>
              </a:ext>
            </a:extLst>
          </p:cNvPr>
          <p:cNvSpPr>
            <a:spLocks noGrp="1"/>
          </p:cNvSpPr>
          <p:nvPr>
            <p:ph idx="1"/>
          </p:nvPr>
        </p:nvSpPr>
        <p:spPr>
          <a:xfrm>
            <a:off x="838200" y="2564606"/>
            <a:ext cx="10515600" cy="3798487"/>
          </a:xfrm>
        </p:spPr>
        <p:txBody>
          <a:bodyPr/>
          <a:lstStyle/>
          <a:p>
            <a:r>
              <a:rPr lang="en-US" sz="2000" b="1" dirty="0"/>
              <a:t>Approach</a:t>
            </a:r>
            <a:r>
              <a:rPr lang="en-US" sz="2000" dirty="0"/>
              <a:t>:</a:t>
            </a:r>
          </a:p>
          <a:p>
            <a:pPr lvl="1"/>
            <a:r>
              <a:rPr lang="en-US" sz="1600" dirty="0"/>
              <a:t>Replace 131 raw features with K cluster-aggregated features</a:t>
            </a:r>
          </a:p>
          <a:p>
            <a:pPr lvl="1"/>
            <a:r>
              <a:rPr lang="en-US" sz="1600" dirty="0"/>
              <a:t>Evaluate performance across a range of cluster counts</a:t>
            </a:r>
          </a:p>
          <a:p>
            <a:r>
              <a:rPr lang="en-US" sz="2000" b="1" dirty="0"/>
              <a:t>Key Findings</a:t>
            </a:r>
            <a:r>
              <a:rPr lang="en-US" sz="2000" dirty="0"/>
              <a:t>:</a:t>
            </a:r>
          </a:p>
          <a:p>
            <a:pPr lvl="1"/>
            <a:r>
              <a:rPr lang="en-US" sz="1600" dirty="0"/>
              <a:t>Performance improves rapidly as redundant features are consolidated</a:t>
            </a:r>
          </a:p>
          <a:p>
            <a:pPr lvl="1"/>
            <a:r>
              <a:rPr lang="en-US" sz="1600" dirty="0"/>
              <a:t>Peak performance observed at a moderate number of clusters</a:t>
            </a:r>
          </a:p>
          <a:p>
            <a:pPr lvl="1"/>
            <a:r>
              <a:rPr lang="en-US" sz="1600" dirty="0"/>
              <a:t>Little or no gain beyond this range despite increasing dimensionality</a:t>
            </a:r>
          </a:p>
          <a:p>
            <a:r>
              <a:rPr lang="en-US" sz="2000" b="1" dirty="0"/>
              <a:t>Robustness</a:t>
            </a:r>
            <a:r>
              <a:rPr lang="en-US" sz="2000" dirty="0"/>
              <a:t>:</a:t>
            </a:r>
          </a:p>
          <a:p>
            <a:pPr lvl="1"/>
            <a:r>
              <a:rPr lang="en-US" sz="1600" dirty="0"/>
              <a:t>Performance trends are consistent across multiple model types</a:t>
            </a:r>
          </a:p>
          <a:p>
            <a:r>
              <a:rPr lang="en-US" sz="2000" b="1" dirty="0"/>
              <a:t>Interpretation</a:t>
            </a:r>
            <a:r>
              <a:rPr lang="en-US" sz="2000" dirty="0"/>
              <a:t>:</a:t>
            </a:r>
          </a:p>
          <a:p>
            <a:pPr lvl="1"/>
            <a:r>
              <a:rPr lang="en-US" sz="1600" dirty="0"/>
              <a:t>Aggregating correlated features improves generalization</a:t>
            </a:r>
          </a:p>
          <a:p>
            <a:pPr lvl="1"/>
            <a:r>
              <a:rPr lang="en-US" sz="1600" dirty="0"/>
              <a:t>Parkinson’s-related voice information is captured by feature families, not individual features</a:t>
            </a:r>
          </a:p>
        </p:txBody>
      </p:sp>
    </p:spTree>
    <p:extLst>
      <p:ext uri="{BB962C8B-B14F-4D97-AF65-F5344CB8AC3E}">
        <p14:creationId xmlns:p14="http://schemas.microsoft.com/office/powerpoint/2010/main" val="3568285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AC2DA-F080-9E5E-9613-8A324BA95E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4F591-5F33-2833-32F5-2E815D8E71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DC4171-F5CC-1A35-31D2-20530CA1A77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B78FF46-8C51-97F3-82E2-C6CED6790B6F}"/>
              </a:ext>
            </a:extLst>
          </p:cNvPr>
          <p:cNvPicPr>
            <a:picLocks noChangeAspect="1"/>
          </p:cNvPicPr>
          <p:nvPr/>
        </p:nvPicPr>
        <p:blipFill>
          <a:blip r:embed="rId2"/>
          <a:stretch>
            <a:fillRect/>
          </a:stretch>
        </p:blipFill>
        <p:spPr>
          <a:xfrm>
            <a:off x="719972" y="1039625"/>
            <a:ext cx="10752056" cy="5734430"/>
          </a:xfrm>
          <a:prstGeom prst="rect">
            <a:avLst/>
          </a:prstGeom>
        </p:spPr>
      </p:pic>
      <p:sp>
        <p:nvSpPr>
          <p:cNvPr id="4" name="Oval 3">
            <a:extLst>
              <a:ext uri="{FF2B5EF4-FFF2-40B4-BE49-F238E27FC236}">
                <a16:creationId xmlns:a16="http://schemas.microsoft.com/office/drawing/2014/main" id="{E6819569-455A-1BCA-C1B6-E6FD33B49EF0}"/>
              </a:ext>
            </a:extLst>
          </p:cNvPr>
          <p:cNvSpPr/>
          <p:nvPr/>
        </p:nvSpPr>
        <p:spPr>
          <a:xfrm>
            <a:off x="1356844" y="1461088"/>
            <a:ext cx="687823" cy="687823"/>
          </a:xfrm>
          <a:prstGeom prst="ellipse">
            <a:avLst/>
          </a:prstGeom>
          <a:noFill/>
          <a:ln w="28575">
            <a:solidFill>
              <a:srgbClr val="00206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FCA8DEC-A9A0-4B3F-B1F0-F590822B2ACB}"/>
              </a:ext>
            </a:extLst>
          </p:cNvPr>
          <p:cNvSpPr txBox="1"/>
          <p:nvPr/>
        </p:nvSpPr>
        <p:spPr>
          <a:xfrm>
            <a:off x="0" y="1023186"/>
            <a:ext cx="5576047" cy="369332"/>
          </a:xfrm>
          <a:prstGeom prst="rect">
            <a:avLst/>
          </a:prstGeom>
          <a:noFill/>
        </p:spPr>
        <p:txBody>
          <a:bodyPr wrap="square" rtlCol="0">
            <a:spAutoFit/>
          </a:bodyPr>
          <a:lstStyle/>
          <a:p>
            <a:r>
              <a:rPr lang="en-US" dirty="0"/>
              <a:t>Recording level performance with K clusters</a:t>
            </a:r>
          </a:p>
        </p:txBody>
      </p:sp>
    </p:spTree>
    <p:extLst>
      <p:ext uri="{BB962C8B-B14F-4D97-AF65-F5344CB8AC3E}">
        <p14:creationId xmlns:p14="http://schemas.microsoft.com/office/powerpoint/2010/main" val="2426045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F754A-45AD-FA3C-BD71-9A828182627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2D4EBFC-4FC2-CEB9-5D66-9CAE4DE44E05}"/>
              </a:ext>
            </a:extLst>
          </p:cNvPr>
          <p:cNvPicPr>
            <a:picLocks noChangeAspect="1"/>
          </p:cNvPicPr>
          <p:nvPr/>
        </p:nvPicPr>
        <p:blipFill>
          <a:blip r:embed="rId2"/>
          <a:stretch>
            <a:fillRect/>
          </a:stretch>
        </p:blipFill>
        <p:spPr>
          <a:xfrm>
            <a:off x="664221" y="1346200"/>
            <a:ext cx="6744827" cy="4777989"/>
          </a:xfrm>
          <a:prstGeom prst="rect">
            <a:avLst/>
          </a:prstGeom>
        </p:spPr>
      </p:pic>
      <p:sp>
        <p:nvSpPr>
          <p:cNvPr id="4" name="TextBox 3">
            <a:extLst>
              <a:ext uri="{FF2B5EF4-FFF2-40B4-BE49-F238E27FC236}">
                <a16:creationId xmlns:a16="http://schemas.microsoft.com/office/drawing/2014/main" id="{9383945F-5DCF-4687-9BAA-AC99656E6596}"/>
              </a:ext>
            </a:extLst>
          </p:cNvPr>
          <p:cNvSpPr txBox="1"/>
          <p:nvPr/>
        </p:nvSpPr>
        <p:spPr>
          <a:xfrm>
            <a:off x="7557961" y="1618407"/>
            <a:ext cx="4037926" cy="3416320"/>
          </a:xfrm>
          <a:prstGeom prst="rect">
            <a:avLst/>
          </a:prstGeom>
          <a:noFill/>
        </p:spPr>
        <p:txBody>
          <a:bodyPr wrap="square" rtlCol="0">
            <a:spAutoFit/>
          </a:bodyPr>
          <a:lstStyle/>
          <a:p>
            <a:pPr marL="285750" indent="-285750">
              <a:buFontTx/>
              <a:buChar char="-"/>
            </a:pPr>
            <a:r>
              <a:rPr lang="en-US" dirty="0"/>
              <a:t>ROC-AUC, accuracy and F1 – all maximized at 14 features</a:t>
            </a:r>
          </a:p>
          <a:p>
            <a:pPr marL="285750" indent="-285750">
              <a:buFontTx/>
              <a:buChar char="-"/>
            </a:pPr>
            <a:r>
              <a:rPr lang="en-US" dirty="0"/>
              <a:t>Massive dimensionality reduction with improved generalization.</a:t>
            </a:r>
          </a:p>
          <a:p>
            <a:pPr marL="285750" indent="-285750">
              <a:buFontTx/>
              <a:buChar char="-"/>
            </a:pPr>
            <a:r>
              <a:rPr lang="en-US" dirty="0"/>
              <a:t>Aligns with initial feature-clustering insights</a:t>
            </a:r>
          </a:p>
          <a:p>
            <a:pPr marL="285750" indent="-285750">
              <a:buFontTx/>
              <a:buChar char="-"/>
            </a:pPr>
            <a:r>
              <a:rPr lang="en-US" dirty="0"/>
              <a:t>A small number of cluster-level features captures most of the discriminative signal, supporting the hypothesis that Parkinson’s voice effects are organized into a limited number of acoustic domains.</a:t>
            </a:r>
          </a:p>
        </p:txBody>
      </p:sp>
    </p:spTree>
    <p:extLst>
      <p:ext uri="{BB962C8B-B14F-4D97-AF65-F5344CB8AC3E}">
        <p14:creationId xmlns:p14="http://schemas.microsoft.com/office/powerpoint/2010/main" val="2983993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80E7C-B5B2-B021-0CAD-A4A5037C8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F59C4-17F7-205B-D72B-43EAC71A34CC}"/>
              </a:ext>
            </a:extLst>
          </p:cNvPr>
          <p:cNvSpPr>
            <a:spLocks noGrp="1"/>
          </p:cNvSpPr>
          <p:nvPr>
            <p:ph type="title"/>
          </p:nvPr>
        </p:nvSpPr>
        <p:spPr/>
        <p:txBody>
          <a:bodyPr>
            <a:normAutofit/>
          </a:bodyPr>
          <a:lstStyle/>
          <a:p>
            <a:r>
              <a:rPr lang="en-US" dirty="0"/>
              <a:t>Patient-Level Performance</a:t>
            </a:r>
          </a:p>
        </p:txBody>
      </p:sp>
      <p:sp>
        <p:nvSpPr>
          <p:cNvPr id="3" name="Content Placeholder 2">
            <a:extLst>
              <a:ext uri="{FF2B5EF4-FFF2-40B4-BE49-F238E27FC236}">
                <a16:creationId xmlns:a16="http://schemas.microsoft.com/office/drawing/2014/main" id="{839535D3-416D-E543-5217-B58EC41A0CD0}"/>
              </a:ext>
            </a:extLst>
          </p:cNvPr>
          <p:cNvSpPr>
            <a:spLocks noGrp="1"/>
          </p:cNvSpPr>
          <p:nvPr>
            <p:ph idx="1"/>
          </p:nvPr>
        </p:nvSpPr>
        <p:spPr>
          <a:xfrm>
            <a:off x="838200" y="2564606"/>
            <a:ext cx="10515600" cy="3798487"/>
          </a:xfrm>
        </p:spPr>
        <p:txBody>
          <a:bodyPr/>
          <a:lstStyle/>
          <a:p>
            <a:r>
              <a:rPr lang="en-US" sz="2400" b="1" dirty="0"/>
              <a:t>Aggregation Strategy</a:t>
            </a:r>
            <a:r>
              <a:rPr lang="en-US" sz="2400" dirty="0"/>
              <a:t>:</a:t>
            </a:r>
          </a:p>
          <a:p>
            <a:pPr lvl="1"/>
            <a:r>
              <a:rPr lang="en-US" sz="1800" dirty="0"/>
              <a:t>Combine multiple recordings per participant using summary statistics</a:t>
            </a:r>
          </a:p>
          <a:p>
            <a:pPr lvl="1"/>
            <a:r>
              <a:rPr lang="en-US" sz="1800" dirty="0"/>
              <a:t>Median aggregation provides the most stable performance</a:t>
            </a:r>
          </a:p>
          <a:p>
            <a:r>
              <a:rPr lang="en-US" sz="2400" b="1" dirty="0"/>
              <a:t>Results</a:t>
            </a:r>
            <a:r>
              <a:rPr lang="en-US" sz="2400" dirty="0"/>
              <a:t>:</a:t>
            </a:r>
          </a:p>
          <a:p>
            <a:pPr lvl="1"/>
            <a:r>
              <a:rPr lang="en-US" sz="1800" dirty="0"/>
              <a:t>Cluster-aggregated features achieve improved patient-level discrimination compared to raw features</a:t>
            </a:r>
          </a:p>
          <a:p>
            <a:pPr lvl="1"/>
            <a:r>
              <a:rPr lang="en-US" sz="1800" dirty="0"/>
              <a:t>Performance gains are consistent across models</a:t>
            </a:r>
          </a:p>
          <a:p>
            <a:r>
              <a:rPr lang="en-US" sz="2400" b="1" dirty="0"/>
              <a:t>Key Insight</a:t>
            </a:r>
            <a:r>
              <a:rPr lang="en-US" sz="2400" dirty="0"/>
              <a:t>:</a:t>
            </a:r>
          </a:p>
          <a:p>
            <a:pPr lvl="1"/>
            <a:r>
              <a:rPr lang="en-US" sz="1800" dirty="0"/>
              <a:t>Patient-level aggregation reduces noise from individual recordings</a:t>
            </a:r>
          </a:p>
          <a:p>
            <a:pPr lvl="1"/>
            <a:r>
              <a:rPr lang="en-US" sz="1800" dirty="0"/>
              <a:t>Reflects realistic screening scenarios where multiple samples are available</a:t>
            </a:r>
          </a:p>
          <a:p>
            <a:r>
              <a:rPr lang="en-US" sz="2400" b="1" dirty="0"/>
              <a:t>Implication</a:t>
            </a:r>
            <a:r>
              <a:rPr lang="en-US" sz="2400" dirty="0"/>
              <a:t>:</a:t>
            </a:r>
          </a:p>
          <a:p>
            <a:pPr lvl="1"/>
            <a:r>
              <a:rPr lang="en-US" sz="1800" dirty="0"/>
              <a:t>Cluster-based representations support more reliable patient-level screening</a:t>
            </a:r>
          </a:p>
        </p:txBody>
      </p:sp>
    </p:spTree>
    <p:extLst>
      <p:ext uri="{BB962C8B-B14F-4D97-AF65-F5344CB8AC3E}">
        <p14:creationId xmlns:p14="http://schemas.microsoft.com/office/powerpoint/2010/main" val="1616228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55694-9D50-1A40-45FC-26816301CCD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CBE5A7E-4B25-FBEA-76B4-C25FC4D3012B}"/>
              </a:ext>
            </a:extLst>
          </p:cNvPr>
          <p:cNvPicPr>
            <a:picLocks noChangeAspect="1"/>
          </p:cNvPicPr>
          <p:nvPr/>
        </p:nvPicPr>
        <p:blipFill>
          <a:blip r:embed="rId2"/>
          <a:stretch>
            <a:fillRect/>
          </a:stretch>
        </p:blipFill>
        <p:spPr>
          <a:xfrm>
            <a:off x="838200" y="1639549"/>
            <a:ext cx="9167602" cy="4889388"/>
          </a:xfrm>
          <a:prstGeom prst="rect">
            <a:avLst/>
          </a:prstGeom>
        </p:spPr>
      </p:pic>
      <p:sp>
        <p:nvSpPr>
          <p:cNvPr id="6" name="TextBox 5">
            <a:extLst>
              <a:ext uri="{FF2B5EF4-FFF2-40B4-BE49-F238E27FC236}">
                <a16:creationId xmlns:a16="http://schemas.microsoft.com/office/drawing/2014/main" id="{66DF2BCC-00FA-A5DE-822B-E2319FFC01C7}"/>
              </a:ext>
            </a:extLst>
          </p:cNvPr>
          <p:cNvSpPr txBox="1"/>
          <p:nvPr/>
        </p:nvSpPr>
        <p:spPr>
          <a:xfrm>
            <a:off x="838200" y="998300"/>
            <a:ext cx="10376647" cy="461665"/>
          </a:xfrm>
          <a:prstGeom prst="rect">
            <a:avLst/>
          </a:prstGeom>
          <a:noFill/>
        </p:spPr>
        <p:txBody>
          <a:bodyPr wrap="square" rtlCol="0">
            <a:spAutoFit/>
          </a:bodyPr>
          <a:lstStyle/>
          <a:p>
            <a:r>
              <a:rPr lang="en-US" sz="2400" b="1" dirty="0"/>
              <a:t>Patient level performance with 14 features (clusters aggregated by mean)</a:t>
            </a:r>
          </a:p>
        </p:txBody>
      </p:sp>
      <p:sp>
        <p:nvSpPr>
          <p:cNvPr id="7" name="TextBox 6">
            <a:extLst>
              <a:ext uri="{FF2B5EF4-FFF2-40B4-BE49-F238E27FC236}">
                <a16:creationId xmlns:a16="http://schemas.microsoft.com/office/drawing/2014/main" id="{5D16D6F7-9C60-210D-8D4F-C4E2CD7F8150}"/>
              </a:ext>
            </a:extLst>
          </p:cNvPr>
          <p:cNvSpPr txBox="1"/>
          <p:nvPr/>
        </p:nvSpPr>
        <p:spPr>
          <a:xfrm>
            <a:off x="10086484" y="2196353"/>
            <a:ext cx="1944151" cy="2308324"/>
          </a:xfrm>
          <a:prstGeom prst="rect">
            <a:avLst/>
          </a:prstGeom>
          <a:noFill/>
        </p:spPr>
        <p:txBody>
          <a:bodyPr wrap="square" rtlCol="0">
            <a:spAutoFit/>
          </a:bodyPr>
          <a:lstStyle/>
          <a:p>
            <a:r>
              <a:rPr lang="en-US" dirty="0"/>
              <a:t>For aggregating cluster values from various recordings for each patient – median works the best across all models.</a:t>
            </a:r>
          </a:p>
        </p:txBody>
      </p:sp>
    </p:spTree>
    <p:extLst>
      <p:ext uri="{BB962C8B-B14F-4D97-AF65-F5344CB8AC3E}">
        <p14:creationId xmlns:p14="http://schemas.microsoft.com/office/powerpoint/2010/main" val="3390385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75E67-5355-3F37-91A4-F0CDB033DD9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AD5082D-2386-2279-707F-CECDD3760199}"/>
              </a:ext>
            </a:extLst>
          </p:cNvPr>
          <p:cNvPicPr>
            <a:picLocks noChangeAspect="1"/>
          </p:cNvPicPr>
          <p:nvPr/>
        </p:nvPicPr>
        <p:blipFill>
          <a:blip r:embed="rId2"/>
          <a:stretch>
            <a:fillRect/>
          </a:stretch>
        </p:blipFill>
        <p:spPr>
          <a:xfrm>
            <a:off x="521187" y="860443"/>
            <a:ext cx="11149626" cy="2998778"/>
          </a:xfrm>
          <a:prstGeom prst="rect">
            <a:avLst/>
          </a:prstGeom>
        </p:spPr>
      </p:pic>
      <p:pic>
        <p:nvPicPr>
          <p:cNvPr id="6" name="Picture 5">
            <a:extLst>
              <a:ext uri="{FF2B5EF4-FFF2-40B4-BE49-F238E27FC236}">
                <a16:creationId xmlns:a16="http://schemas.microsoft.com/office/drawing/2014/main" id="{102B2F4F-B1B7-AA5B-8614-0C7D373E6047}"/>
              </a:ext>
            </a:extLst>
          </p:cNvPr>
          <p:cNvPicPr>
            <a:picLocks noChangeAspect="1"/>
          </p:cNvPicPr>
          <p:nvPr/>
        </p:nvPicPr>
        <p:blipFill>
          <a:blip r:embed="rId3"/>
          <a:stretch>
            <a:fillRect/>
          </a:stretch>
        </p:blipFill>
        <p:spPr>
          <a:xfrm>
            <a:off x="521186" y="3859221"/>
            <a:ext cx="11149627" cy="2998779"/>
          </a:xfrm>
          <a:prstGeom prst="rect">
            <a:avLst/>
          </a:prstGeom>
        </p:spPr>
      </p:pic>
      <p:sp>
        <p:nvSpPr>
          <p:cNvPr id="7" name="TextBox 6">
            <a:extLst>
              <a:ext uri="{FF2B5EF4-FFF2-40B4-BE49-F238E27FC236}">
                <a16:creationId xmlns:a16="http://schemas.microsoft.com/office/drawing/2014/main" id="{594DAC5D-F25D-2321-0182-736FF9FE68E4}"/>
              </a:ext>
            </a:extLst>
          </p:cNvPr>
          <p:cNvSpPr txBox="1"/>
          <p:nvPr/>
        </p:nvSpPr>
        <p:spPr>
          <a:xfrm>
            <a:off x="682552" y="860443"/>
            <a:ext cx="2652319" cy="369332"/>
          </a:xfrm>
          <a:prstGeom prst="rect">
            <a:avLst/>
          </a:prstGeom>
          <a:noFill/>
        </p:spPr>
        <p:txBody>
          <a:bodyPr wrap="square" rtlCol="0">
            <a:spAutoFit/>
          </a:bodyPr>
          <a:lstStyle/>
          <a:p>
            <a:r>
              <a:rPr lang="en-US" dirty="0"/>
              <a:t>14 clustered features</a:t>
            </a:r>
          </a:p>
        </p:txBody>
      </p:sp>
      <p:sp>
        <p:nvSpPr>
          <p:cNvPr id="8" name="TextBox 7">
            <a:extLst>
              <a:ext uri="{FF2B5EF4-FFF2-40B4-BE49-F238E27FC236}">
                <a16:creationId xmlns:a16="http://schemas.microsoft.com/office/drawing/2014/main" id="{527040A9-F2B8-25B8-BE3B-8A9F72C280F9}"/>
              </a:ext>
            </a:extLst>
          </p:cNvPr>
          <p:cNvSpPr txBox="1"/>
          <p:nvPr/>
        </p:nvSpPr>
        <p:spPr>
          <a:xfrm>
            <a:off x="682552" y="3859221"/>
            <a:ext cx="2652319" cy="369332"/>
          </a:xfrm>
          <a:prstGeom prst="rect">
            <a:avLst/>
          </a:prstGeom>
          <a:noFill/>
        </p:spPr>
        <p:txBody>
          <a:bodyPr wrap="square" rtlCol="0">
            <a:spAutoFit/>
          </a:bodyPr>
          <a:lstStyle/>
          <a:p>
            <a:r>
              <a:rPr lang="en-US" dirty="0"/>
              <a:t>Baseline, 131 features</a:t>
            </a:r>
          </a:p>
        </p:txBody>
      </p:sp>
    </p:spTree>
    <p:extLst>
      <p:ext uri="{BB962C8B-B14F-4D97-AF65-F5344CB8AC3E}">
        <p14:creationId xmlns:p14="http://schemas.microsoft.com/office/powerpoint/2010/main" val="4205508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152FF-8340-5C35-353C-CB914C77D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6B5FC0-DB67-3D26-35B6-E5959332F8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416E88-9C67-EE03-02A2-04BCA521514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5531E29-8AA5-0E5F-7C5D-80B88F33E1DC}"/>
              </a:ext>
            </a:extLst>
          </p:cNvPr>
          <p:cNvPicPr>
            <a:picLocks noChangeAspect="1"/>
          </p:cNvPicPr>
          <p:nvPr/>
        </p:nvPicPr>
        <p:blipFill>
          <a:blip r:embed="rId2"/>
          <a:stretch>
            <a:fillRect/>
          </a:stretch>
        </p:blipFill>
        <p:spPr>
          <a:xfrm>
            <a:off x="1375135" y="67034"/>
            <a:ext cx="9441730" cy="6723931"/>
          </a:xfrm>
          <a:prstGeom prst="rect">
            <a:avLst/>
          </a:prstGeom>
        </p:spPr>
      </p:pic>
    </p:spTree>
    <p:extLst>
      <p:ext uri="{BB962C8B-B14F-4D97-AF65-F5344CB8AC3E}">
        <p14:creationId xmlns:p14="http://schemas.microsoft.com/office/powerpoint/2010/main" val="855444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8DB7E-795E-DB82-39A6-41CAB9F0A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F5E39-8C7A-A749-AC38-EA200836F926}"/>
              </a:ext>
            </a:extLst>
          </p:cNvPr>
          <p:cNvSpPr>
            <a:spLocks noGrp="1"/>
          </p:cNvSpPr>
          <p:nvPr>
            <p:ph type="title"/>
          </p:nvPr>
        </p:nvSpPr>
        <p:spPr/>
        <p:txBody>
          <a:bodyPr>
            <a:normAutofit/>
          </a:bodyPr>
          <a:lstStyle/>
          <a:p>
            <a:r>
              <a:rPr lang="en-US" sz="4200" dirty="0"/>
              <a:t>Interpretability and Cluster Characterization</a:t>
            </a:r>
          </a:p>
        </p:txBody>
      </p:sp>
      <p:sp>
        <p:nvSpPr>
          <p:cNvPr id="3" name="Content Placeholder 2">
            <a:extLst>
              <a:ext uri="{FF2B5EF4-FFF2-40B4-BE49-F238E27FC236}">
                <a16:creationId xmlns:a16="http://schemas.microsoft.com/office/drawing/2014/main" id="{334316C0-8C95-33C9-0835-CF03DCF2B098}"/>
              </a:ext>
            </a:extLst>
          </p:cNvPr>
          <p:cNvSpPr>
            <a:spLocks noGrp="1"/>
          </p:cNvSpPr>
          <p:nvPr>
            <p:ph idx="1"/>
          </p:nvPr>
        </p:nvSpPr>
        <p:spPr>
          <a:xfrm>
            <a:off x="838200" y="2564606"/>
            <a:ext cx="10515600" cy="3798487"/>
          </a:xfrm>
        </p:spPr>
        <p:txBody>
          <a:bodyPr/>
          <a:lstStyle/>
          <a:p>
            <a:r>
              <a:rPr lang="en-US" sz="2400" b="1" dirty="0"/>
              <a:t>Cluster Interpretation</a:t>
            </a:r>
            <a:r>
              <a:rPr lang="en-US" sz="2400" dirty="0"/>
              <a:t>:</a:t>
            </a:r>
          </a:p>
          <a:p>
            <a:pPr marL="457200" lvl="1" indent="0">
              <a:buNone/>
            </a:pPr>
            <a:r>
              <a:rPr lang="en-US" sz="1800" dirty="0"/>
              <a:t>Learned clusters correspond to coherent acoustic domains (e.g., speech rate, loudness dynamics, pitch stability, voice quality)</a:t>
            </a:r>
          </a:p>
          <a:p>
            <a:r>
              <a:rPr lang="en-US" sz="2400" b="1" dirty="0"/>
              <a:t>Model Usage</a:t>
            </a:r>
            <a:r>
              <a:rPr lang="en-US" sz="2400" dirty="0"/>
              <a:t>:</a:t>
            </a:r>
          </a:p>
          <a:p>
            <a:pPr marL="457200" lvl="1" indent="0">
              <a:buNone/>
            </a:pPr>
            <a:r>
              <a:rPr lang="en-US" sz="1800" dirty="0"/>
              <a:t>Models rely on multiple clusters, rather than a single dominant feature group</a:t>
            </a:r>
          </a:p>
          <a:p>
            <a:r>
              <a:rPr lang="en-US" sz="2400" b="1" dirty="0"/>
              <a:t>Distributed Signal</a:t>
            </a:r>
            <a:r>
              <a:rPr lang="en-US" sz="2400" dirty="0"/>
              <a:t>:</a:t>
            </a:r>
          </a:p>
          <a:p>
            <a:pPr marL="457200" lvl="1" indent="0">
              <a:buNone/>
            </a:pPr>
            <a:r>
              <a:rPr lang="en-US" sz="1800" dirty="0"/>
              <a:t>Parkinson’s-related voice changes emerge from combined effects across clusters</a:t>
            </a:r>
          </a:p>
          <a:p>
            <a:r>
              <a:rPr lang="en-US" sz="2400" b="1" dirty="0"/>
              <a:t>Biomarker Implications</a:t>
            </a:r>
            <a:r>
              <a:rPr lang="en-US" sz="2400" dirty="0"/>
              <a:t>:</a:t>
            </a:r>
          </a:p>
          <a:p>
            <a:pPr lvl="1"/>
            <a:r>
              <a:rPr lang="en-US" sz="1800" dirty="0"/>
              <a:t>Cluster-level representations provide a structured path toward vocal biomarker discovery</a:t>
            </a:r>
          </a:p>
          <a:p>
            <a:pPr lvl="1"/>
            <a:r>
              <a:rPr lang="en-US" sz="1800" dirty="0"/>
              <a:t>Enables linking acoustic families to underlying speech and motor processes</a:t>
            </a:r>
          </a:p>
        </p:txBody>
      </p:sp>
    </p:spTree>
    <p:extLst>
      <p:ext uri="{BB962C8B-B14F-4D97-AF65-F5344CB8AC3E}">
        <p14:creationId xmlns:p14="http://schemas.microsoft.com/office/powerpoint/2010/main" val="3039859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BE8D1-7119-9EE4-355B-1C703A763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DD9D7-0D99-6B8B-E325-31FB7EB36906}"/>
              </a:ext>
            </a:extLst>
          </p:cNvPr>
          <p:cNvSpPr>
            <a:spLocks noGrp="1"/>
          </p:cNvSpPr>
          <p:nvPr>
            <p:ph type="title"/>
          </p:nvPr>
        </p:nvSpPr>
        <p:spPr/>
        <p:txBody>
          <a:bodyPr/>
          <a:lstStyle/>
          <a:p>
            <a:r>
              <a:rPr lang="en-US" dirty="0"/>
              <a:t>Dominant Acoustic Clusters: Speech Rate, Loudness, and Articulation</a:t>
            </a:r>
          </a:p>
        </p:txBody>
      </p:sp>
      <p:sp>
        <p:nvSpPr>
          <p:cNvPr id="5" name="TextBox 4">
            <a:extLst>
              <a:ext uri="{FF2B5EF4-FFF2-40B4-BE49-F238E27FC236}">
                <a16:creationId xmlns:a16="http://schemas.microsoft.com/office/drawing/2014/main" id="{1C916C51-5D68-0D6D-2EAD-F895F5FDB356}"/>
              </a:ext>
            </a:extLst>
          </p:cNvPr>
          <p:cNvSpPr txBox="1"/>
          <p:nvPr/>
        </p:nvSpPr>
        <p:spPr>
          <a:xfrm>
            <a:off x="765314" y="2865136"/>
            <a:ext cx="4896016" cy="3190104"/>
          </a:xfrm>
          <a:prstGeom prst="rect">
            <a:avLst/>
          </a:prstGeom>
          <a:noFill/>
        </p:spPr>
        <p:txBody>
          <a:bodyPr wrap="square">
            <a:spAutoFit/>
          </a:bodyPr>
          <a:lstStyle/>
          <a:p>
            <a:pPr>
              <a:lnSpc>
                <a:spcPct val="90000"/>
              </a:lnSpc>
              <a:spcBef>
                <a:spcPts val="500"/>
              </a:spcBef>
            </a:pPr>
            <a:r>
              <a:rPr lang="en-IN" sz="1600" b="1" dirty="0">
                <a:latin typeface="Arial" panose="020B0604020202020204" pitchFamily="34" charset="0"/>
                <a:cs typeface="Arial" panose="020B0604020202020204" pitchFamily="34" charset="0"/>
              </a:rPr>
              <a:t>Cluster 12 — Speech Rate &amp; Intelligibility</a:t>
            </a:r>
          </a:p>
          <a:p>
            <a:pPr>
              <a:lnSpc>
                <a:spcPct val="90000"/>
              </a:lnSpc>
              <a:spcBef>
                <a:spcPts val="500"/>
              </a:spcBef>
            </a:pPr>
            <a:endParaRPr lang="en-IN" sz="1600" b="1"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Key features</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400" dirty="0" err="1">
                <a:latin typeface="Arial" panose="020B0604020202020204" pitchFamily="34" charset="0"/>
                <a:cs typeface="Arial" panose="020B0604020202020204" pitchFamily="34" charset="0"/>
              </a:rPr>
              <a:t>speaking_rate</a:t>
            </a:r>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articulation_rate</a:t>
            </a:r>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loudnessPeaksPerSec</a:t>
            </a:r>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voicedSegmentsPerSec</a:t>
            </a:r>
            <a:r>
              <a:rPr lang="en-IN" sz="1400" dirty="0">
                <a:latin typeface="Arial" panose="020B0604020202020204" pitchFamily="34" charset="0"/>
                <a:cs typeface="Arial" panose="020B0604020202020204" pitchFamily="34" charset="0"/>
              </a:rPr>
              <a:t>, STOI, PESQ</a:t>
            </a:r>
          </a:p>
          <a:p>
            <a:pPr>
              <a:lnSpc>
                <a:spcPct val="90000"/>
              </a:lnSpc>
              <a:spcBef>
                <a:spcPts val="500"/>
              </a:spcBef>
            </a:pPr>
            <a:endParaRPr lang="en-IN" sz="1600" b="1"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What it captures</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400" dirty="0">
                <a:latin typeface="Arial" panose="020B0604020202020204" pitchFamily="34" charset="0"/>
                <a:cs typeface="Arial" panose="020B0604020202020204" pitchFamily="34" charset="0"/>
              </a:rPr>
              <a:t>Speech tempo, articulation efficiency, and intelligibility</a:t>
            </a:r>
          </a:p>
          <a:p>
            <a:pPr>
              <a:lnSpc>
                <a:spcPct val="90000"/>
              </a:lnSpc>
              <a:spcBef>
                <a:spcPts val="500"/>
              </a:spcBef>
            </a:pPr>
            <a:endParaRPr lang="en-IN" sz="1600" b="1"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Relevance to PD</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400" dirty="0">
                <a:latin typeface="Arial" panose="020B0604020202020204" pitchFamily="34" charset="0"/>
                <a:cs typeface="Arial" panose="020B0604020202020204" pitchFamily="34" charset="0"/>
              </a:rPr>
              <a:t>Reflects bradykinesia and hypokinesia of speech, a core component of hypokinetic dysarthria</a:t>
            </a:r>
          </a:p>
        </p:txBody>
      </p:sp>
      <p:sp>
        <p:nvSpPr>
          <p:cNvPr id="6" name="TextBox 5">
            <a:extLst>
              <a:ext uri="{FF2B5EF4-FFF2-40B4-BE49-F238E27FC236}">
                <a16:creationId xmlns:a16="http://schemas.microsoft.com/office/drawing/2014/main" id="{D46C3767-1B5B-F6FA-D305-61A1589717B9}"/>
              </a:ext>
            </a:extLst>
          </p:cNvPr>
          <p:cNvSpPr txBox="1"/>
          <p:nvPr/>
        </p:nvSpPr>
        <p:spPr>
          <a:xfrm>
            <a:off x="6186115" y="2865136"/>
            <a:ext cx="5167685" cy="3190104"/>
          </a:xfrm>
          <a:prstGeom prst="rect">
            <a:avLst/>
          </a:prstGeom>
          <a:noFill/>
        </p:spPr>
        <p:txBody>
          <a:bodyPr wrap="square">
            <a:spAutoFit/>
          </a:bodyPr>
          <a:lstStyle/>
          <a:p>
            <a:pPr>
              <a:lnSpc>
                <a:spcPct val="90000"/>
              </a:lnSpc>
              <a:spcBef>
                <a:spcPts val="500"/>
              </a:spcBef>
            </a:pPr>
            <a:r>
              <a:rPr lang="en-IN" sz="1600" b="1" dirty="0">
                <a:latin typeface="Arial" panose="020B0604020202020204" pitchFamily="34" charset="0"/>
                <a:cs typeface="Arial" panose="020B0604020202020204" pitchFamily="34" charset="0"/>
              </a:rPr>
              <a:t>Cluster 4 — Loudness &amp; Spectral Dynamics</a:t>
            </a:r>
          </a:p>
          <a:p>
            <a:pPr>
              <a:lnSpc>
                <a:spcPct val="90000"/>
              </a:lnSpc>
              <a:spcBef>
                <a:spcPts val="500"/>
              </a:spcBef>
            </a:pPr>
            <a:endParaRPr lang="en-IN" sz="1600" b="1"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Key features:</a:t>
            </a:r>
          </a:p>
          <a:p>
            <a:pPr>
              <a:lnSpc>
                <a:spcPct val="90000"/>
              </a:lnSpc>
              <a:spcBef>
                <a:spcPts val="500"/>
              </a:spcBef>
            </a:pPr>
            <a:r>
              <a:rPr lang="en-IN" sz="1400" dirty="0">
                <a:latin typeface="Arial" panose="020B0604020202020204" pitchFamily="34" charset="0"/>
                <a:cs typeface="Arial" panose="020B0604020202020204" pitchFamily="34" charset="0"/>
              </a:rPr>
              <a:t>mean/percentile loudness, loudness slopes, spectral flux, equivalent sound level</a:t>
            </a:r>
          </a:p>
          <a:p>
            <a:pPr>
              <a:lnSpc>
                <a:spcPct val="90000"/>
              </a:lnSpc>
              <a:spcBef>
                <a:spcPts val="500"/>
              </a:spcBef>
            </a:pPr>
            <a:endParaRPr lang="en-IN" sz="1600"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What it captures</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400" dirty="0">
                <a:latin typeface="Arial" panose="020B0604020202020204" pitchFamily="34" charset="0"/>
                <a:cs typeface="Arial" panose="020B0604020202020204" pitchFamily="34" charset="0"/>
              </a:rPr>
              <a:t>Vocal intensity control and dynamic modulation</a:t>
            </a:r>
          </a:p>
          <a:p>
            <a:pPr>
              <a:lnSpc>
                <a:spcPct val="90000"/>
              </a:lnSpc>
              <a:spcBef>
                <a:spcPts val="500"/>
              </a:spcBef>
            </a:pPr>
            <a:endParaRPr lang="en-IN" sz="1600"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Relevance to PD</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400" dirty="0">
                <a:latin typeface="Arial" panose="020B0604020202020204" pitchFamily="34" charset="0"/>
                <a:cs typeface="Arial" panose="020B0604020202020204" pitchFamily="34" charset="0"/>
              </a:rPr>
              <a:t>Hypophonia and reduced dynamic range due to impaired respiratory–laryngeal motor control</a:t>
            </a:r>
          </a:p>
        </p:txBody>
      </p:sp>
    </p:spTree>
    <p:extLst>
      <p:ext uri="{BB962C8B-B14F-4D97-AF65-F5344CB8AC3E}">
        <p14:creationId xmlns:p14="http://schemas.microsoft.com/office/powerpoint/2010/main" val="40370287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D072F-0ED7-E669-6A4D-E76F4E3D8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4D2184-7FFD-972D-8EF5-9EE3E3D3EF8A}"/>
              </a:ext>
            </a:extLst>
          </p:cNvPr>
          <p:cNvSpPr>
            <a:spLocks noGrp="1"/>
          </p:cNvSpPr>
          <p:nvPr>
            <p:ph type="title"/>
          </p:nvPr>
        </p:nvSpPr>
        <p:spPr/>
        <p:txBody>
          <a:bodyPr>
            <a:normAutofit/>
          </a:bodyPr>
          <a:lstStyle/>
          <a:p>
            <a:r>
              <a:rPr lang="en-US" dirty="0"/>
              <a:t>Phonation Stability, Pitch, and Spectral Structure</a:t>
            </a:r>
          </a:p>
        </p:txBody>
      </p:sp>
      <p:sp>
        <p:nvSpPr>
          <p:cNvPr id="5" name="TextBox 4">
            <a:extLst>
              <a:ext uri="{FF2B5EF4-FFF2-40B4-BE49-F238E27FC236}">
                <a16:creationId xmlns:a16="http://schemas.microsoft.com/office/drawing/2014/main" id="{05092FA0-235D-3743-EB4F-5D84F6816D6E}"/>
              </a:ext>
            </a:extLst>
          </p:cNvPr>
          <p:cNvSpPr txBox="1"/>
          <p:nvPr/>
        </p:nvSpPr>
        <p:spPr>
          <a:xfrm>
            <a:off x="765314" y="2865136"/>
            <a:ext cx="4896016" cy="3771802"/>
          </a:xfrm>
          <a:prstGeom prst="rect">
            <a:avLst/>
          </a:prstGeom>
          <a:noFill/>
        </p:spPr>
        <p:txBody>
          <a:bodyPr wrap="square">
            <a:spAutoFit/>
          </a:bodyPr>
          <a:lstStyle/>
          <a:p>
            <a:pPr>
              <a:lnSpc>
                <a:spcPct val="90000"/>
              </a:lnSpc>
              <a:spcBef>
                <a:spcPts val="500"/>
              </a:spcBef>
            </a:pPr>
            <a:r>
              <a:rPr lang="en-IN" sz="1600" b="1" dirty="0">
                <a:latin typeface="Arial" panose="020B0604020202020204" pitchFamily="34" charset="0"/>
                <a:cs typeface="Arial" panose="020B0604020202020204" pitchFamily="34" charset="0"/>
              </a:rPr>
              <a:t>Cluster 11 — MFCC &amp; Low-Frequency Spectral Slope</a:t>
            </a:r>
          </a:p>
          <a:p>
            <a:pPr>
              <a:lnSpc>
                <a:spcPct val="90000"/>
              </a:lnSpc>
              <a:spcBef>
                <a:spcPts val="500"/>
              </a:spcBef>
            </a:pPr>
            <a:endParaRPr lang="en-IN" sz="1600"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Key features</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600" dirty="0">
                <a:latin typeface="Arial" panose="020B0604020202020204" pitchFamily="34" charset="0"/>
                <a:cs typeface="Arial" panose="020B0604020202020204" pitchFamily="34" charset="0"/>
              </a:rPr>
              <a:t>MFCC4, low-frequency spectral slope, formant bandwidth/location variability</a:t>
            </a:r>
          </a:p>
          <a:p>
            <a:pPr>
              <a:lnSpc>
                <a:spcPct val="90000"/>
              </a:lnSpc>
              <a:spcBef>
                <a:spcPts val="500"/>
              </a:spcBef>
            </a:pPr>
            <a:endParaRPr lang="en-IN" sz="1600"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What it captures</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600" dirty="0">
                <a:latin typeface="Arial" panose="020B0604020202020204" pitchFamily="34" charset="0"/>
                <a:cs typeface="Arial" panose="020B0604020202020204" pitchFamily="34" charset="0"/>
              </a:rPr>
              <a:t>Vocal tract resonance stability and articulatory precision</a:t>
            </a:r>
          </a:p>
          <a:p>
            <a:pPr>
              <a:lnSpc>
                <a:spcPct val="90000"/>
              </a:lnSpc>
              <a:spcBef>
                <a:spcPts val="500"/>
              </a:spcBef>
            </a:pPr>
            <a:endParaRPr lang="en-IN" sz="1600"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Relevance to PD</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600" dirty="0">
                <a:latin typeface="Arial" panose="020B0604020202020204" pitchFamily="34" charset="0"/>
                <a:cs typeface="Arial" panose="020B0604020202020204" pitchFamily="34" charset="0"/>
              </a:rPr>
              <a:t>Linked to reduced articulatory control and altered vocal tract configuration</a:t>
            </a:r>
          </a:p>
        </p:txBody>
      </p:sp>
      <p:sp>
        <p:nvSpPr>
          <p:cNvPr id="6" name="TextBox 5">
            <a:extLst>
              <a:ext uri="{FF2B5EF4-FFF2-40B4-BE49-F238E27FC236}">
                <a16:creationId xmlns:a16="http://schemas.microsoft.com/office/drawing/2014/main" id="{7B618518-7446-3C57-B4E4-BBBE8C94ACAC}"/>
              </a:ext>
            </a:extLst>
          </p:cNvPr>
          <p:cNvSpPr txBox="1"/>
          <p:nvPr/>
        </p:nvSpPr>
        <p:spPr>
          <a:xfrm>
            <a:off x="6186115" y="2865136"/>
            <a:ext cx="5167685" cy="3550203"/>
          </a:xfrm>
          <a:prstGeom prst="rect">
            <a:avLst/>
          </a:prstGeom>
          <a:noFill/>
        </p:spPr>
        <p:txBody>
          <a:bodyPr wrap="square">
            <a:spAutoFit/>
          </a:bodyPr>
          <a:lstStyle/>
          <a:p>
            <a:pPr>
              <a:lnSpc>
                <a:spcPct val="90000"/>
              </a:lnSpc>
              <a:spcBef>
                <a:spcPts val="500"/>
              </a:spcBef>
            </a:pPr>
            <a:r>
              <a:rPr lang="en-IN" sz="1600" b="1" dirty="0">
                <a:latin typeface="Arial" panose="020B0604020202020204" pitchFamily="34" charset="0"/>
                <a:cs typeface="Arial" panose="020B0604020202020204" pitchFamily="34" charset="0"/>
              </a:rPr>
              <a:t>Clusters 13 &amp; 14 — Pitch, Harmonics, and Cepstral Structure</a:t>
            </a:r>
          </a:p>
          <a:p>
            <a:pPr>
              <a:lnSpc>
                <a:spcPct val="90000"/>
              </a:lnSpc>
              <a:spcBef>
                <a:spcPts val="500"/>
              </a:spcBef>
            </a:pPr>
            <a:endParaRPr lang="en-IN" sz="1600"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Key features</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600" dirty="0">
                <a:latin typeface="Arial" panose="020B0604020202020204" pitchFamily="34" charset="0"/>
                <a:cs typeface="Arial" panose="020B0604020202020204" pitchFamily="34" charset="0"/>
              </a:rPr>
              <a:t>mean/std F0, MFCC1/2, HNR, CPP, Hammarberg index, spectral tilt</a:t>
            </a:r>
          </a:p>
          <a:p>
            <a:pPr>
              <a:lnSpc>
                <a:spcPct val="90000"/>
              </a:lnSpc>
              <a:spcBef>
                <a:spcPts val="500"/>
              </a:spcBef>
            </a:pPr>
            <a:endParaRPr lang="en-IN" sz="1600"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What they capture</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600" dirty="0">
                <a:latin typeface="Arial" panose="020B0604020202020204" pitchFamily="34" charset="0"/>
                <a:cs typeface="Arial" panose="020B0604020202020204" pitchFamily="34" charset="0"/>
              </a:rPr>
              <a:t>Pitch variability, harmonic structure, voice quality</a:t>
            </a:r>
          </a:p>
          <a:p>
            <a:pPr>
              <a:lnSpc>
                <a:spcPct val="90000"/>
              </a:lnSpc>
              <a:spcBef>
                <a:spcPts val="500"/>
              </a:spcBef>
            </a:pPr>
            <a:endParaRPr lang="en-IN" sz="1600"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Relevance to PD</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600" dirty="0">
                <a:latin typeface="Arial" panose="020B0604020202020204" pitchFamily="34" charset="0"/>
                <a:cs typeface="Arial" panose="020B0604020202020204" pitchFamily="34" charset="0"/>
              </a:rPr>
              <a:t>Classic signs of </a:t>
            </a:r>
            <a:r>
              <a:rPr lang="en-IN" sz="1600" dirty="0" err="1">
                <a:latin typeface="Arial" panose="020B0604020202020204" pitchFamily="34" charset="0"/>
                <a:cs typeface="Arial" panose="020B0604020202020204" pitchFamily="34" charset="0"/>
              </a:rPr>
              <a:t>monopitch</a:t>
            </a:r>
            <a:r>
              <a:rPr lang="en-IN" sz="1600" dirty="0">
                <a:latin typeface="Arial" panose="020B0604020202020204" pitchFamily="34" charset="0"/>
                <a:cs typeface="Arial" panose="020B0604020202020204" pitchFamily="34" charset="0"/>
              </a:rPr>
              <a:t>, breathiness, and incomplete glottic closure</a:t>
            </a:r>
          </a:p>
        </p:txBody>
      </p:sp>
    </p:spTree>
    <p:extLst>
      <p:ext uri="{BB962C8B-B14F-4D97-AF65-F5344CB8AC3E}">
        <p14:creationId xmlns:p14="http://schemas.microsoft.com/office/powerpoint/2010/main" val="9881066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E3A84-9102-E0EC-07FA-38FEF62A40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5BBF8-E46C-8DC3-02D3-9A1B3BFF8A04}"/>
              </a:ext>
            </a:extLst>
          </p:cNvPr>
          <p:cNvSpPr>
            <a:spLocks noGrp="1"/>
          </p:cNvSpPr>
          <p:nvPr>
            <p:ph type="title"/>
          </p:nvPr>
        </p:nvSpPr>
        <p:spPr/>
        <p:txBody>
          <a:bodyPr>
            <a:normAutofit/>
          </a:bodyPr>
          <a:lstStyle/>
          <a:p>
            <a:r>
              <a:rPr lang="en-US" dirty="0"/>
              <a:t>Timing, Variability, and Secondary Motor Effects</a:t>
            </a:r>
          </a:p>
        </p:txBody>
      </p:sp>
      <p:sp>
        <p:nvSpPr>
          <p:cNvPr id="5" name="TextBox 4">
            <a:extLst>
              <a:ext uri="{FF2B5EF4-FFF2-40B4-BE49-F238E27FC236}">
                <a16:creationId xmlns:a16="http://schemas.microsoft.com/office/drawing/2014/main" id="{0063689A-3098-5DEB-84A1-28719982AAF7}"/>
              </a:ext>
            </a:extLst>
          </p:cNvPr>
          <p:cNvSpPr txBox="1"/>
          <p:nvPr/>
        </p:nvSpPr>
        <p:spPr>
          <a:xfrm>
            <a:off x="765314" y="2865136"/>
            <a:ext cx="4896016" cy="3328604"/>
          </a:xfrm>
          <a:prstGeom prst="rect">
            <a:avLst/>
          </a:prstGeom>
          <a:noFill/>
        </p:spPr>
        <p:txBody>
          <a:bodyPr wrap="square">
            <a:spAutoFit/>
          </a:bodyPr>
          <a:lstStyle/>
          <a:p>
            <a:pPr>
              <a:lnSpc>
                <a:spcPct val="90000"/>
              </a:lnSpc>
              <a:spcBef>
                <a:spcPts val="500"/>
              </a:spcBef>
            </a:pPr>
            <a:r>
              <a:rPr lang="en-IN" sz="1600" b="1" dirty="0">
                <a:latin typeface="Arial" panose="020B0604020202020204" pitchFamily="34" charset="0"/>
                <a:cs typeface="Arial" panose="020B0604020202020204" pitchFamily="34" charset="0"/>
              </a:rPr>
              <a:t>Cluster 6 — Pauses &amp; Intensity Variability</a:t>
            </a:r>
          </a:p>
          <a:p>
            <a:pPr>
              <a:lnSpc>
                <a:spcPct val="90000"/>
              </a:lnSpc>
              <a:spcBef>
                <a:spcPts val="500"/>
              </a:spcBef>
            </a:pPr>
            <a:endParaRPr lang="en-IN" sz="1600"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Key features</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600" dirty="0" err="1">
                <a:latin typeface="Arial" panose="020B0604020202020204" pitchFamily="34" charset="0"/>
                <a:cs typeface="Arial" panose="020B0604020202020204" pitchFamily="34" charset="0"/>
              </a:rPr>
              <a:t>pause_rate</a:t>
            </a:r>
            <a:r>
              <a:rPr lang="en-IN" sz="1600" dirty="0">
                <a:latin typeface="Arial" panose="020B0604020202020204" pitchFamily="34" charset="0"/>
                <a:cs typeface="Arial" panose="020B0604020202020204" pitchFamily="34" charset="0"/>
              </a:rPr>
              <a:t>, </a:t>
            </a:r>
            <a:r>
              <a:rPr lang="en-IN" sz="1600" dirty="0" err="1">
                <a:latin typeface="Arial" panose="020B0604020202020204" pitchFamily="34" charset="0"/>
                <a:cs typeface="Arial" panose="020B0604020202020204" pitchFamily="34" charset="0"/>
              </a:rPr>
              <a:t>mean_pause_duration</a:t>
            </a:r>
            <a:r>
              <a:rPr lang="en-IN" sz="1600" dirty="0">
                <a:latin typeface="Arial" panose="020B0604020202020204" pitchFamily="34" charset="0"/>
                <a:cs typeface="Arial" panose="020B0604020202020204" pitchFamily="34" charset="0"/>
              </a:rPr>
              <a:t>, </a:t>
            </a:r>
            <a:r>
              <a:rPr lang="en-IN" sz="1600" dirty="0" err="1">
                <a:latin typeface="Arial" panose="020B0604020202020204" pitchFamily="34" charset="0"/>
                <a:cs typeface="Arial" panose="020B0604020202020204" pitchFamily="34" charset="0"/>
              </a:rPr>
              <a:t>phonation_ratio</a:t>
            </a:r>
            <a:r>
              <a:rPr lang="en-IN" sz="1600" dirty="0">
                <a:latin typeface="Arial" panose="020B0604020202020204" pitchFamily="34" charset="0"/>
                <a:cs typeface="Arial" panose="020B0604020202020204" pitchFamily="34" charset="0"/>
              </a:rPr>
              <a:t>, intensity variability</a:t>
            </a:r>
          </a:p>
          <a:p>
            <a:pPr>
              <a:lnSpc>
                <a:spcPct val="90000"/>
              </a:lnSpc>
              <a:spcBef>
                <a:spcPts val="500"/>
              </a:spcBef>
            </a:pPr>
            <a:endParaRPr lang="en-IN" sz="1600"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What it captures</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600" dirty="0">
                <a:latin typeface="Arial" panose="020B0604020202020204" pitchFamily="34" charset="0"/>
                <a:cs typeface="Arial" panose="020B0604020202020204" pitchFamily="34" charset="0"/>
              </a:rPr>
              <a:t>Speech initiation, pausing, and coordination</a:t>
            </a:r>
          </a:p>
          <a:p>
            <a:pPr>
              <a:lnSpc>
                <a:spcPct val="90000"/>
              </a:lnSpc>
              <a:spcBef>
                <a:spcPts val="500"/>
              </a:spcBef>
            </a:pPr>
            <a:endParaRPr lang="en-IN" sz="1600"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Relevance to PD</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600" dirty="0">
                <a:latin typeface="Arial" panose="020B0604020202020204" pitchFamily="34" charset="0"/>
                <a:cs typeface="Arial" panose="020B0604020202020204" pitchFamily="34" charset="0"/>
              </a:rPr>
              <a:t>Consistent with motor initiation deficits and impaired speech timing</a:t>
            </a:r>
          </a:p>
        </p:txBody>
      </p:sp>
      <p:sp>
        <p:nvSpPr>
          <p:cNvPr id="6" name="TextBox 5">
            <a:extLst>
              <a:ext uri="{FF2B5EF4-FFF2-40B4-BE49-F238E27FC236}">
                <a16:creationId xmlns:a16="http://schemas.microsoft.com/office/drawing/2014/main" id="{854E23BC-6B66-A392-8D25-5C96A0F70DE1}"/>
              </a:ext>
            </a:extLst>
          </p:cNvPr>
          <p:cNvSpPr txBox="1"/>
          <p:nvPr/>
        </p:nvSpPr>
        <p:spPr>
          <a:xfrm>
            <a:off x="6186115" y="2865136"/>
            <a:ext cx="5167685" cy="3550203"/>
          </a:xfrm>
          <a:prstGeom prst="rect">
            <a:avLst/>
          </a:prstGeom>
          <a:noFill/>
        </p:spPr>
        <p:txBody>
          <a:bodyPr wrap="square">
            <a:spAutoFit/>
          </a:bodyPr>
          <a:lstStyle/>
          <a:p>
            <a:pPr>
              <a:lnSpc>
                <a:spcPct val="90000"/>
              </a:lnSpc>
              <a:spcBef>
                <a:spcPts val="500"/>
              </a:spcBef>
            </a:pPr>
            <a:r>
              <a:rPr lang="en-IN" sz="1600" b="1" dirty="0">
                <a:latin typeface="Arial" panose="020B0604020202020204" pitchFamily="34" charset="0"/>
                <a:cs typeface="Arial" panose="020B0604020202020204" pitchFamily="34" charset="0"/>
              </a:rPr>
              <a:t>Clusters 1, 2, 3, 7 — Jitter, Shimmer, Formants, Segment Timing</a:t>
            </a:r>
          </a:p>
          <a:p>
            <a:pPr>
              <a:lnSpc>
                <a:spcPct val="90000"/>
              </a:lnSpc>
              <a:spcBef>
                <a:spcPts val="500"/>
              </a:spcBef>
            </a:pPr>
            <a:endParaRPr lang="en-IN" sz="1600"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Key features</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600" dirty="0">
                <a:latin typeface="Arial" panose="020B0604020202020204" pitchFamily="34" charset="0"/>
                <a:cs typeface="Arial" panose="020B0604020202020204" pitchFamily="34" charset="0"/>
              </a:rPr>
              <a:t>jitter, shimmer, formant frequencies/bandwidths, voiced/unvoiced segment lengths</a:t>
            </a:r>
          </a:p>
          <a:p>
            <a:pPr>
              <a:lnSpc>
                <a:spcPct val="90000"/>
              </a:lnSpc>
              <a:spcBef>
                <a:spcPts val="500"/>
              </a:spcBef>
            </a:pPr>
            <a:endParaRPr lang="en-IN" sz="1600" b="1"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What they capture</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600" dirty="0">
                <a:latin typeface="Arial" panose="020B0604020202020204" pitchFamily="34" charset="0"/>
                <a:cs typeface="Arial" panose="020B0604020202020204" pitchFamily="34" charset="0"/>
              </a:rPr>
              <a:t>Fine-grained phonatory and articulatory variability</a:t>
            </a:r>
          </a:p>
          <a:p>
            <a:pPr>
              <a:lnSpc>
                <a:spcPct val="90000"/>
              </a:lnSpc>
              <a:spcBef>
                <a:spcPts val="500"/>
              </a:spcBef>
            </a:pPr>
            <a:endParaRPr lang="en-IN" sz="1600" b="1" dirty="0">
              <a:latin typeface="Arial" panose="020B0604020202020204" pitchFamily="34" charset="0"/>
              <a:cs typeface="Arial" panose="020B0604020202020204" pitchFamily="34" charset="0"/>
            </a:endParaRPr>
          </a:p>
          <a:p>
            <a:pPr>
              <a:lnSpc>
                <a:spcPct val="90000"/>
              </a:lnSpc>
              <a:spcBef>
                <a:spcPts val="500"/>
              </a:spcBef>
            </a:pPr>
            <a:r>
              <a:rPr lang="en-IN" sz="1600" b="1" dirty="0">
                <a:latin typeface="Arial" panose="020B0604020202020204" pitchFamily="34" charset="0"/>
                <a:cs typeface="Arial" panose="020B0604020202020204" pitchFamily="34" charset="0"/>
              </a:rPr>
              <a:t>Relevance to PD</a:t>
            </a:r>
            <a:r>
              <a:rPr lang="en-IN" sz="1600" dirty="0">
                <a:latin typeface="Arial" panose="020B0604020202020204" pitchFamily="34" charset="0"/>
                <a:cs typeface="Arial" panose="020B0604020202020204" pitchFamily="34" charset="0"/>
              </a:rPr>
              <a:t>:</a:t>
            </a:r>
          </a:p>
          <a:p>
            <a:pPr>
              <a:lnSpc>
                <a:spcPct val="90000"/>
              </a:lnSpc>
              <a:spcBef>
                <a:spcPts val="500"/>
              </a:spcBef>
            </a:pPr>
            <a:r>
              <a:rPr lang="en-IN" sz="1600" dirty="0">
                <a:latin typeface="Arial" panose="020B0604020202020204" pitchFamily="34" charset="0"/>
                <a:cs typeface="Arial" panose="020B0604020202020204" pitchFamily="34" charset="0"/>
              </a:rPr>
              <a:t>Secondary manifestations of unstable vocal fold vibration and articulation</a:t>
            </a:r>
          </a:p>
        </p:txBody>
      </p:sp>
    </p:spTree>
    <p:extLst>
      <p:ext uri="{BB962C8B-B14F-4D97-AF65-F5344CB8AC3E}">
        <p14:creationId xmlns:p14="http://schemas.microsoft.com/office/powerpoint/2010/main" val="13145882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4CB32-1B88-4262-D618-36DDD107F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07E911-049C-4828-DC58-BEE09F8DFC8B}"/>
              </a:ext>
            </a:extLst>
          </p:cNvPr>
          <p:cNvSpPr>
            <a:spLocks noGrp="1"/>
          </p:cNvSpPr>
          <p:nvPr>
            <p:ph type="title"/>
          </p:nvPr>
        </p:nvSpPr>
        <p:spPr/>
        <p:txBody>
          <a:bodyPr>
            <a:normAutofit/>
          </a:bodyPr>
          <a:lstStyle/>
          <a:p>
            <a:r>
              <a:rPr lang="en-US" dirty="0"/>
              <a:t>Discussion</a:t>
            </a:r>
          </a:p>
        </p:txBody>
      </p:sp>
      <p:sp>
        <p:nvSpPr>
          <p:cNvPr id="3" name="Content Placeholder 2">
            <a:extLst>
              <a:ext uri="{FF2B5EF4-FFF2-40B4-BE49-F238E27FC236}">
                <a16:creationId xmlns:a16="http://schemas.microsoft.com/office/drawing/2014/main" id="{0135CA73-0E0C-C19C-5C42-507D14BDF1BA}"/>
              </a:ext>
            </a:extLst>
          </p:cNvPr>
          <p:cNvSpPr>
            <a:spLocks noGrp="1"/>
          </p:cNvSpPr>
          <p:nvPr>
            <p:ph idx="1"/>
          </p:nvPr>
        </p:nvSpPr>
        <p:spPr>
          <a:xfrm>
            <a:off x="838200" y="2564606"/>
            <a:ext cx="10515600" cy="3798487"/>
          </a:xfrm>
        </p:spPr>
        <p:txBody>
          <a:bodyPr/>
          <a:lstStyle/>
          <a:p>
            <a:pPr marL="0" indent="0">
              <a:buNone/>
            </a:pPr>
            <a:r>
              <a:rPr lang="en-US" sz="2000" b="1" dirty="0"/>
              <a:t>Structured feature reduction improves robustness</a:t>
            </a:r>
          </a:p>
          <a:p>
            <a:pPr marL="0" indent="0">
              <a:buNone/>
            </a:pPr>
            <a:r>
              <a:rPr lang="en-US" sz="1800" dirty="0"/>
              <a:t>Organizing acoustic features into coherent clusters reduces redundancy and leads to more reliable generalization than selecting or ranking individual features.</a:t>
            </a:r>
          </a:p>
          <a:p>
            <a:pPr marL="0" indent="0">
              <a:buNone/>
            </a:pPr>
            <a:r>
              <a:rPr lang="en-US" sz="2000" b="1" dirty="0"/>
              <a:t>Parkinson’s voice signal is distributed</a:t>
            </a:r>
          </a:p>
          <a:p>
            <a:pPr marL="0" indent="0">
              <a:buNone/>
            </a:pPr>
            <a:r>
              <a:rPr lang="en-US" sz="1800" dirty="0"/>
              <a:t>Discriminative information arises from multiple coordinated acoustic domains (e.g., speech rate, loudness control, phonatory stability), rather than a single dominant feature.</a:t>
            </a:r>
          </a:p>
          <a:p>
            <a:pPr marL="0" indent="0">
              <a:buNone/>
            </a:pPr>
            <a:r>
              <a:rPr lang="en-US" sz="2000" b="1" dirty="0"/>
              <a:t>Patient-level evaluation is critical</a:t>
            </a:r>
          </a:p>
          <a:p>
            <a:pPr marL="0" indent="0">
              <a:buNone/>
            </a:pPr>
            <a:r>
              <a:rPr lang="en-US" sz="1800" dirty="0"/>
              <a:t>Performance and stability improve when models are evaluated at the patient level, reflecting realistic screening scenarios and avoiding inflated recording-level estimates.</a:t>
            </a:r>
          </a:p>
        </p:txBody>
      </p:sp>
    </p:spTree>
    <p:extLst>
      <p:ext uri="{BB962C8B-B14F-4D97-AF65-F5344CB8AC3E}">
        <p14:creationId xmlns:p14="http://schemas.microsoft.com/office/powerpoint/2010/main" val="32734209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44C88-4242-E452-3F2D-DCDD6C4FA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0AF10-7F64-DA08-9525-89A5C3285200}"/>
              </a:ext>
            </a:extLst>
          </p:cNvPr>
          <p:cNvSpPr>
            <a:spLocks noGrp="1"/>
          </p:cNvSpPr>
          <p:nvPr>
            <p:ph type="title"/>
          </p:nvPr>
        </p:nvSpPr>
        <p:spPr/>
        <p:txBody>
          <a:bodyPr>
            <a:normAutofit/>
          </a:bodyPr>
          <a:lstStyle/>
          <a:p>
            <a:r>
              <a:rPr lang="en-US" dirty="0"/>
              <a:t>Discussion</a:t>
            </a:r>
          </a:p>
        </p:txBody>
      </p:sp>
      <p:sp>
        <p:nvSpPr>
          <p:cNvPr id="3" name="Content Placeholder 2">
            <a:extLst>
              <a:ext uri="{FF2B5EF4-FFF2-40B4-BE49-F238E27FC236}">
                <a16:creationId xmlns:a16="http://schemas.microsoft.com/office/drawing/2014/main" id="{FA12773D-AB63-7584-E2FE-406547D6F2ED}"/>
              </a:ext>
            </a:extLst>
          </p:cNvPr>
          <p:cNvSpPr>
            <a:spLocks noGrp="1"/>
          </p:cNvSpPr>
          <p:nvPr>
            <p:ph idx="1"/>
          </p:nvPr>
        </p:nvSpPr>
        <p:spPr>
          <a:xfrm>
            <a:off x="838200" y="2564606"/>
            <a:ext cx="10515600" cy="3798487"/>
          </a:xfrm>
        </p:spPr>
        <p:txBody>
          <a:bodyPr/>
          <a:lstStyle/>
          <a:p>
            <a:pPr marL="0" indent="0">
              <a:buNone/>
            </a:pPr>
            <a:r>
              <a:rPr lang="en-US" sz="2000" b="1" dirty="0"/>
              <a:t>Interpretability without added complexity</a:t>
            </a:r>
          </a:p>
          <a:p>
            <a:pPr marL="0" indent="0">
              <a:buNone/>
            </a:pPr>
            <a:r>
              <a:rPr lang="en-US" sz="1800" dirty="0"/>
              <a:t>Simple cluster aggregation yields models that are both effective and explainable, avoiding reliance on opaque or highly complex architectures.</a:t>
            </a:r>
          </a:p>
          <a:p>
            <a:pPr marL="0" indent="0">
              <a:buNone/>
            </a:pPr>
            <a:r>
              <a:rPr lang="en-US" sz="2000" b="1" dirty="0"/>
              <a:t>Feature structure enhances cross-task robustness</a:t>
            </a:r>
          </a:p>
          <a:p>
            <a:pPr marL="0" indent="0">
              <a:buNone/>
            </a:pPr>
            <a:r>
              <a:rPr lang="en-US" sz="1800" dirty="0"/>
              <a:t>Cluster-based representations are less sensitive to individual speech tasks or feature noise, improving stability across heterogeneous recordings.</a:t>
            </a:r>
          </a:p>
          <a:p>
            <a:pPr marL="0" indent="0">
              <a:buNone/>
            </a:pPr>
            <a:r>
              <a:rPr lang="en-US" sz="2000" b="1" dirty="0"/>
              <a:t>Beyond classification toward biomarkers</a:t>
            </a:r>
          </a:p>
          <a:p>
            <a:pPr marL="0" indent="0">
              <a:buNone/>
            </a:pPr>
            <a:r>
              <a:rPr lang="en-US" sz="1800" dirty="0"/>
              <a:t>The identified acoustic feature clusters provide a foundation for hypothesis-driven vocal biomarker discovery, supporting future studies of disease mechanisms, progression, and treatment response.</a:t>
            </a:r>
          </a:p>
        </p:txBody>
      </p:sp>
    </p:spTree>
    <p:extLst>
      <p:ext uri="{BB962C8B-B14F-4D97-AF65-F5344CB8AC3E}">
        <p14:creationId xmlns:p14="http://schemas.microsoft.com/office/powerpoint/2010/main" val="7165306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DD75A-BFF4-C036-55DA-37BAEC95D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375D9-0173-888E-50F2-F4B3FED5FC56}"/>
              </a:ext>
            </a:extLst>
          </p:cNvPr>
          <p:cNvSpPr>
            <a:spLocks noGrp="1"/>
          </p:cNvSpPr>
          <p:nvPr>
            <p:ph type="title"/>
          </p:nvPr>
        </p:nvSpPr>
        <p:spPr/>
        <p:txBody>
          <a:bodyPr>
            <a:normAutofit/>
          </a:bodyPr>
          <a:lstStyle/>
          <a:p>
            <a:r>
              <a:rPr lang="en-US" dirty="0"/>
              <a:t>Potential Pitfalls</a:t>
            </a:r>
          </a:p>
        </p:txBody>
      </p:sp>
      <p:sp>
        <p:nvSpPr>
          <p:cNvPr id="3" name="Content Placeholder 2">
            <a:extLst>
              <a:ext uri="{FF2B5EF4-FFF2-40B4-BE49-F238E27FC236}">
                <a16:creationId xmlns:a16="http://schemas.microsoft.com/office/drawing/2014/main" id="{C0A64933-AFF5-0329-B322-6AF878B4910E}"/>
              </a:ext>
            </a:extLst>
          </p:cNvPr>
          <p:cNvSpPr>
            <a:spLocks noGrp="1"/>
          </p:cNvSpPr>
          <p:nvPr>
            <p:ph idx="1"/>
          </p:nvPr>
        </p:nvSpPr>
        <p:spPr>
          <a:xfrm>
            <a:off x="838200" y="2564606"/>
            <a:ext cx="10515600" cy="3798487"/>
          </a:xfrm>
        </p:spPr>
        <p:txBody>
          <a:bodyPr/>
          <a:lstStyle/>
          <a:p>
            <a:r>
              <a:rPr lang="en-US" sz="2000" b="1" dirty="0"/>
              <a:t>Sample size constraints</a:t>
            </a:r>
            <a:r>
              <a:rPr lang="en-US" sz="2000" dirty="0"/>
              <a:t>:</a:t>
            </a:r>
          </a:p>
          <a:p>
            <a:pPr lvl="1"/>
            <a:r>
              <a:rPr lang="en-US" sz="1800" dirty="0"/>
              <a:t>The Parkinson’s subset is modest, which may limit statistical power and subgroup analyses</a:t>
            </a:r>
          </a:p>
          <a:p>
            <a:r>
              <a:rPr lang="en-US" sz="2000" b="1" dirty="0"/>
              <a:t>Task and recording dependence</a:t>
            </a:r>
            <a:r>
              <a:rPr lang="en-US" sz="2000" dirty="0"/>
              <a:t>:</a:t>
            </a:r>
          </a:p>
          <a:p>
            <a:pPr lvl="1"/>
            <a:r>
              <a:rPr lang="en-US" sz="1800" dirty="0"/>
              <a:t>Acoustic patterns may vary by speech task or recording conditions</a:t>
            </a:r>
          </a:p>
          <a:p>
            <a:r>
              <a:rPr lang="en-US" sz="2000" b="1" dirty="0"/>
              <a:t>Residual confounding</a:t>
            </a:r>
            <a:r>
              <a:rPr lang="en-US" sz="2000" dirty="0"/>
              <a:t>:</a:t>
            </a:r>
          </a:p>
          <a:p>
            <a:pPr lvl="1"/>
            <a:r>
              <a:rPr lang="en-US" sz="1800" dirty="0"/>
              <a:t>Age, disease severity, and medication effects may still influence voice features</a:t>
            </a:r>
          </a:p>
          <a:p>
            <a:r>
              <a:rPr lang="en-US" sz="2000" b="1" dirty="0"/>
              <a:t>Cluster stability</a:t>
            </a:r>
            <a:r>
              <a:rPr lang="en-US" sz="2000" dirty="0"/>
              <a:t>:</a:t>
            </a:r>
          </a:p>
          <a:p>
            <a:pPr lvl="1"/>
            <a:r>
              <a:rPr lang="en-US" sz="1800" dirty="0"/>
              <a:t>Feature clusters may shift with different datasets or preprocessing choices</a:t>
            </a:r>
          </a:p>
          <a:p>
            <a:r>
              <a:rPr lang="en-US" sz="2000" b="1" dirty="0"/>
              <a:t>Generalization risk</a:t>
            </a:r>
            <a:r>
              <a:rPr lang="en-US" sz="2000" dirty="0"/>
              <a:t>:</a:t>
            </a:r>
          </a:p>
          <a:p>
            <a:pPr lvl="1"/>
            <a:r>
              <a:rPr lang="en-US" sz="1800" dirty="0"/>
              <a:t>Performance may differ across populations, languages, or recording devices</a:t>
            </a:r>
            <a:endParaRPr lang="en-US" sz="1200" dirty="0"/>
          </a:p>
        </p:txBody>
      </p:sp>
    </p:spTree>
    <p:extLst>
      <p:ext uri="{BB962C8B-B14F-4D97-AF65-F5344CB8AC3E}">
        <p14:creationId xmlns:p14="http://schemas.microsoft.com/office/powerpoint/2010/main" val="2451700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954C8-F74D-422A-D9AF-6F01D9AC1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B01EA6-4651-5654-316F-1594E5310163}"/>
              </a:ext>
            </a:extLst>
          </p:cNvPr>
          <p:cNvSpPr>
            <a:spLocks noGrp="1"/>
          </p:cNvSpPr>
          <p:nvPr>
            <p:ph type="title"/>
          </p:nvPr>
        </p:nvSpPr>
        <p:spPr/>
        <p:txBody>
          <a:bodyPr>
            <a:normAutofit/>
          </a:bodyPr>
          <a:lstStyle/>
          <a:p>
            <a:r>
              <a:rPr lang="en-US" sz="4100" dirty="0"/>
              <a:t>Alternative and Complementary Approaches</a:t>
            </a:r>
          </a:p>
        </p:txBody>
      </p:sp>
      <p:sp>
        <p:nvSpPr>
          <p:cNvPr id="3" name="Content Placeholder 2">
            <a:extLst>
              <a:ext uri="{FF2B5EF4-FFF2-40B4-BE49-F238E27FC236}">
                <a16:creationId xmlns:a16="http://schemas.microsoft.com/office/drawing/2014/main" id="{BB8D9244-7ADD-91A7-B7D7-6441F961E5E0}"/>
              </a:ext>
            </a:extLst>
          </p:cNvPr>
          <p:cNvSpPr>
            <a:spLocks noGrp="1"/>
          </p:cNvSpPr>
          <p:nvPr>
            <p:ph idx="1"/>
          </p:nvPr>
        </p:nvSpPr>
        <p:spPr>
          <a:xfrm>
            <a:off x="838200" y="2564606"/>
            <a:ext cx="10515600" cy="3798487"/>
          </a:xfrm>
        </p:spPr>
        <p:txBody>
          <a:bodyPr/>
          <a:lstStyle/>
          <a:p>
            <a:r>
              <a:rPr lang="en-US" sz="2000" b="1" dirty="0"/>
              <a:t>Raw audio modeling</a:t>
            </a:r>
            <a:r>
              <a:rPr lang="en-US" sz="2000" dirty="0"/>
              <a:t>:</a:t>
            </a:r>
          </a:p>
          <a:p>
            <a:pPr lvl="1"/>
            <a:r>
              <a:rPr lang="en-US" sz="1800" dirty="0"/>
              <a:t>Sequence models using spectrograms or learned embeddings to capture temporal dynamics directly</a:t>
            </a:r>
          </a:p>
          <a:p>
            <a:r>
              <a:rPr lang="en-US" sz="2000" b="1" dirty="0"/>
              <a:t>Incorporation of clinical phenotypes</a:t>
            </a:r>
            <a:r>
              <a:rPr lang="en-US" sz="2000" dirty="0"/>
              <a:t>:</a:t>
            </a:r>
          </a:p>
          <a:p>
            <a:pPr lvl="1"/>
            <a:r>
              <a:rPr lang="en-US" sz="1800" dirty="0"/>
              <a:t>Adding demographic or clinical variables to improve performance when deployment context allows</a:t>
            </a:r>
          </a:p>
          <a:p>
            <a:r>
              <a:rPr lang="en-US" sz="2000" b="1" dirty="0"/>
              <a:t>Longitudinal analysis</a:t>
            </a:r>
            <a:r>
              <a:rPr lang="en-US" sz="2000" dirty="0"/>
              <a:t>:</a:t>
            </a:r>
          </a:p>
          <a:p>
            <a:pPr lvl="1"/>
            <a:r>
              <a:rPr lang="en-US" sz="1800" dirty="0"/>
              <a:t>Modeling within-patient changes over time for progression or monitoring applications</a:t>
            </a:r>
          </a:p>
          <a:p>
            <a:r>
              <a:rPr lang="en-US" sz="2000" b="1" dirty="0"/>
              <a:t>Multimodal extensions</a:t>
            </a:r>
            <a:r>
              <a:rPr lang="en-US" sz="2000" dirty="0"/>
              <a:t>:</a:t>
            </a:r>
          </a:p>
          <a:p>
            <a:pPr lvl="1"/>
            <a:r>
              <a:rPr lang="en-US" sz="1800" dirty="0"/>
              <a:t>Combining voice with other digital biomarkers (e.g., motor, wearable data)</a:t>
            </a:r>
          </a:p>
          <a:p>
            <a:r>
              <a:rPr lang="en-US" sz="2000" b="1" dirty="0"/>
              <a:t>Hybrid strategies</a:t>
            </a:r>
            <a:r>
              <a:rPr lang="en-US" sz="2000" dirty="0"/>
              <a:t>:</a:t>
            </a:r>
          </a:p>
          <a:p>
            <a:pPr lvl="1"/>
            <a:r>
              <a:rPr lang="en-US" sz="1800" dirty="0"/>
              <a:t>Using cluster-level features as inputs to more complex models for improved robustness</a:t>
            </a:r>
            <a:endParaRPr lang="en-US" sz="900" dirty="0"/>
          </a:p>
        </p:txBody>
      </p:sp>
    </p:spTree>
    <p:extLst>
      <p:ext uri="{BB962C8B-B14F-4D97-AF65-F5344CB8AC3E}">
        <p14:creationId xmlns:p14="http://schemas.microsoft.com/office/powerpoint/2010/main" val="2109498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57F18-48B3-83C7-6681-572A12036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8818B-929E-00EE-8E48-09C8EBBAD655}"/>
              </a:ext>
            </a:extLst>
          </p:cNvPr>
          <p:cNvSpPr>
            <a:spLocks noGrp="1"/>
          </p:cNvSpPr>
          <p:nvPr>
            <p:ph type="title"/>
          </p:nvPr>
        </p:nvSpPr>
        <p:spPr/>
        <p:txBody>
          <a:bodyPr>
            <a:normAutofit/>
          </a:bodyPr>
          <a:lstStyle/>
          <a:p>
            <a:r>
              <a:rPr lang="en-US" sz="4100" dirty="0"/>
              <a:t>Future Directions</a:t>
            </a:r>
          </a:p>
        </p:txBody>
      </p:sp>
      <p:sp>
        <p:nvSpPr>
          <p:cNvPr id="3" name="Content Placeholder 2">
            <a:extLst>
              <a:ext uri="{FF2B5EF4-FFF2-40B4-BE49-F238E27FC236}">
                <a16:creationId xmlns:a16="http://schemas.microsoft.com/office/drawing/2014/main" id="{3A966311-83B1-7A0C-07C9-DB4ABCEC6886}"/>
              </a:ext>
            </a:extLst>
          </p:cNvPr>
          <p:cNvSpPr>
            <a:spLocks noGrp="1"/>
          </p:cNvSpPr>
          <p:nvPr>
            <p:ph idx="1"/>
          </p:nvPr>
        </p:nvSpPr>
        <p:spPr>
          <a:xfrm>
            <a:off x="838200" y="2564606"/>
            <a:ext cx="10515600" cy="3798487"/>
          </a:xfrm>
        </p:spPr>
        <p:txBody>
          <a:bodyPr/>
          <a:lstStyle/>
          <a:p>
            <a:r>
              <a:rPr lang="en-US" sz="2000" b="1" dirty="0"/>
              <a:t>External validation</a:t>
            </a:r>
            <a:r>
              <a:rPr lang="en-US" sz="2000" dirty="0"/>
              <a:t>:</a:t>
            </a:r>
          </a:p>
          <a:p>
            <a:pPr lvl="1"/>
            <a:r>
              <a:rPr lang="en-US" sz="1800" dirty="0"/>
              <a:t>Evaluate the pipeline on independent voice datasets and recording conditions</a:t>
            </a:r>
          </a:p>
          <a:p>
            <a:r>
              <a:rPr lang="en-US" sz="2000" b="1" dirty="0"/>
              <a:t>Refinement of acoustic clusters</a:t>
            </a:r>
            <a:r>
              <a:rPr lang="en-US" sz="1800" dirty="0"/>
              <a:t>:</a:t>
            </a:r>
          </a:p>
          <a:p>
            <a:pPr lvl="1"/>
            <a:r>
              <a:rPr lang="en-US" sz="1800" dirty="0"/>
              <a:t>Study cluster stability across tasks, populations, and feature sets</a:t>
            </a:r>
          </a:p>
          <a:p>
            <a:r>
              <a:rPr lang="en-US" sz="2000" b="1" dirty="0"/>
              <a:t>Vocal biomarker discovery</a:t>
            </a:r>
            <a:r>
              <a:rPr lang="en-US" sz="1800" dirty="0"/>
              <a:t>:</a:t>
            </a:r>
          </a:p>
          <a:p>
            <a:pPr lvl="1"/>
            <a:r>
              <a:rPr lang="en-US" sz="1800" dirty="0"/>
              <a:t>Link acoustic feature clusters to clinical outcomes and disease severity</a:t>
            </a:r>
          </a:p>
          <a:p>
            <a:r>
              <a:rPr lang="en-US" sz="2000" b="1" dirty="0"/>
              <a:t>Raw audio integration</a:t>
            </a:r>
            <a:r>
              <a:rPr lang="en-US" sz="1800" dirty="0"/>
              <a:t>:</a:t>
            </a:r>
          </a:p>
          <a:p>
            <a:pPr lvl="1"/>
            <a:r>
              <a:rPr lang="en-US" sz="1800" dirty="0"/>
              <a:t>Extend the approach to spectrogram- or embedding-based models</a:t>
            </a:r>
          </a:p>
          <a:p>
            <a:r>
              <a:rPr lang="en-US" sz="2000" b="1" dirty="0"/>
              <a:t>Clinical translation</a:t>
            </a:r>
            <a:r>
              <a:rPr lang="en-US" sz="1800" dirty="0"/>
              <a:t>:</a:t>
            </a:r>
          </a:p>
          <a:p>
            <a:pPr lvl="1"/>
            <a:r>
              <a:rPr lang="en-US" sz="1800" dirty="0"/>
              <a:t>Explore feasibility of voice-based screening in real-world and remote settings</a:t>
            </a:r>
          </a:p>
        </p:txBody>
      </p:sp>
    </p:spTree>
    <p:extLst>
      <p:ext uri="{BB962C8B-B14F-4D97-AF65-F5344CB8AC3E}">
        <p14:creationId xmlns:p14="http://schemas.microsoft.com/office/powerpoint/2010/main" val="38669864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8530B-347D-FFB8-5750-DFCBC8D88A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FD502-AC38-D848-B173-9910D8512A0C}"/>
              </a:ext>
            </a:extLst>
          </p:cNvPr>
          <p:cNvSpPr>
            <a:spLocks noGrp="1"/>
          </p:cNvSpPr>
          <p:nvPr>
            <p:ph type="title"/>
          </p:nvPr>
        </p:nvSpPr>
        <p:spPr/>
        <p:txBody>
          <a:bodyPr>
            <a:normAutofit/>
          </a:bodyPr>
          <a:lstStyle/>
          <a:p>
            <a:r>
              <a:rPr lang="en-US" sz="4100" dirty="0"/>
              <a:t>Summary and Take-Home Message</a:t>
            </a:r>
          </a:p>
        </p:txBody>
      </p:sp>
      <p:sp>
        <p:nvSpPr>
          <p:cNvPr id="3" name="Content Placeholder 2">
            <a:extLst>
              <a:ext uri="{FF2B5EF4-FFF2-40B4-BE49-F238E27FC236}">
                <a16:creationId xmlns:a16="http://schemas.microsoft.com/office/drawing/2014/main" id="{129BB98C-5C1A-E79C-48F4-CFD99B4B6DFD}"/>
              </a:ext>
            </a:extLst>
          </p:cNvPr>
          <p:cNvSpPr>
            <a:spLocks noGrp="1"/>
          </p:cNvSpPr>
          <p:nvPr>
            <p:ph idx="1"/>
          </p:nvPr>
        </p:nvSpPr>
        <p:spPr>
          <a:xfrm>
            <a:off x="838200" y="2564606"/>
            <a:ext cx="10515600" cy="3798487"/>
          </a:xfrm>
        </p:spPr>
        <p:txBody>
          <a:bodyPr/>
          <a:lstStyle/>
          <a:p>
            <a:r>
              <a:rPr lang="en-US" sz="2000" dirty="0"/>
              <a:t>Voice contains measurable and clinically relevant signals associated with Parkinson’s disease</a:t>
            </a:r>
          </a:p>
          <a:p>
            <a:r>
              <a:rPr lang="en-US" sz="2000" dirty="0"/>
              <a:t>Acoustic features exhibit strong structure and redundancy, motivating feature clustering</a:t>
            </a:r>
          </a:p>
          <a:p>
            <a:r>
              <a:rPr lang="en-US" sz="2000" dirty="0"/>
              <a:t>Cluster-aggregated representations improve robustness and patient-level screening performance</a:t>
            </a:r>
          </a:p>
          <a:p>
            <a:r>
              <a:rPr lang="en-US" sz="2000" dirty="0"/>
              <a:t>The approach balances performance, interpretability, and reproducibility</a:t>
            </a:r>
          </a:p>
          <a:p>
            <a:r>
              <a:rPr lang="en-US" sz="2000" dirty="0"/>
              <a:t>Feature clusters provide a principled foundation for future vocal biomarker discovery</a:t>
            </a:r>
          </a:p>
        </p:txBody>
      </p:sp>
    </p:spTree>
    <p:extLst>
      <p:ext uri="{BB962C8B-B14F-4D97-AF65-F5344CB8AC3E}">
        <p14:creationId xmlns:p14="http://schemas.microsoft.com/office/powerpoint/2010/main" val="34784157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B0285-E3B1-7762-A69A-FC2A92EDA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C485CE-A4CA-59B7-FA09-F67822CAEB2E}"/>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10D2D0ED-B161-9429-18EC-1DEF88DEBD77}"/>
              </a:ext>
            </a:extLst>
          </p:cNvPr>
          <p:cNvSpPr>
            <a:spLocks noGrp="1"/>
          </p:cNvSpPr>
          <p:nvPr>
            <p:ph idx="1"/>
          </p:nvPr>
        </p:nvSpPr>
        <p:spPr/>
        <p:txBody>
          <a:bodyPr/>
          <a:lstStyle/>
          <a:p>
            <a:r>
              <a:rPr lang="en-US" sz="1400" dirty="0"/>
              <a:t>Bensoussan, Y., </a:t>
            </a:r>
            <a:r>
              <a:rPr lang="en-US" sz="1400" dirty="0" err="1"/>
              <a:t>Sigaras</a:t>
            </a:r>
            <a:r>
              <a:rPr lang="en-US" sz="1400" dirty="0"/>
              <a:t>, A., Rameau, A., </a:t>
            </a:r>
            <a:r>
              <a:rPr lang="en-US" sz="1400" dirty="0" err="1"/>
              <a:t>Elemento</a:t>
            </a:r>
            <a:r>
              <a:rPr lang="en-US" sz="1400" dirty="0"/>
              <a:t>, O., Powell, M., Dorr, D., Payne, P., Ravitsky, V., Bélisle-</a:t>
            </a:r>
            <a:r>
              <a:rPr lang="en-US" sz="1400" dirty="0" err="1"/>
              <a:t>Pipon</a:t>
            </a:r>
            <a:r>
              <a:rPr lang="en-US" sz="1400" dirty="0"/>
              <a:t>, J.-C., Bahr, R., Watts, S., Bolser, D., Siu, J., Lerner-Ellis, J., </a:t>
            </a:r>
            <a:r>
              <a:rPr lang="en-US" sz="1400" dirty="0" err="1"/>
              <a:t>Rudzicz</a:t>
            </a:r>
            <a:r>
              <a:rPr lang="en-US" sz="1400" dirty="0"/>
              <a:t>, F., Boyer, M., Abdel-</a:t>
            </a:r>
            <a:r>
              <a:rPr lang="en-US" sz="1400" dirty="0" err="1"/>
              <a:t>Aty</a:t>
            </a:r>
            <a:r>
              <a:rPr lang="en-US" sz="1400" dirty="0"/>
              <a:t>, Y., Ahmed Syed, T., Anibal, J., … Ghosh, S. (2025). </a:t>
            </a:r>
            <a:r>
              <a:rPr lang="en-US" sz="1400" i="1" dirty="0"/>
              <a:t>Bridge2AI-Voice: An ethically-sourced, diverse voice dataset linked to health information</a:t>
            </a:r>
            <a:r>
              <a:rPr lang="en-US" sz="1400" dirty="0"/>
              <a:t> (Version 3.0.0) [Dataset]. PhysioNet. https://</a:t>
            </a:r>
            <a:r>
              <a:rPr lang="en-US" sz="1400" dirty="0" err="1"/>
              <a:t>doi.org</a:t>
            </a:r>
            <a:r>
              <a:rPr lang="en-US" sz="1400" dirty="0"/>
              <a:t>/10.13026/K81F-QR68</a:t>
            </a:r>
            <a:endParaRPr lang="en-IN" sz="1400" dirty="0"/>
          </a:p>
          <a:p>
            <a:r>
              <a:rPr lang="en-US" sz="1400" dirty="0"/>
              <a:t>Cao, F., Vogel, A. P., </a:t>
            </a:r>
            <a:r>
              <a:rPr lang="en-US" sz="1400" dirty="0" err="1"/>
              <a:t>Gharahkhani</a:t>
            </a:r>
            <a:r>
              <a:rPr lang="en-US" sz="1400" dirty="0"/>
              <a:t>, P., &amp; Renteria, M. E. (2025). Speech and language biomarkers for Parkinson’s disease prediction, early diagnosis and progression. </a:t>
            </a:r>
            <a:r>
              <a:rPr lang="en-US" sz="1400" i="1" dirty="0" err="1"/>
              <a:t>Npj</a:t>
            </a:r>
            <a:r>
              <a:rPr lang="en-US" sz="1400" i="1" dirty="0"/>
              <a:t> Parkinson’s Disease</a:t>
            </a:r>
            <a:r>
              <a:rPr lang="en-US" sz="1400" dirty="0"/>
              <a:t>, </a:t>
            </a:r>
            <a:r>
              <a:rPr lang="en-US" sz="1400" i="1" dirty="0"/>
              <a:t>11</a:t>
            </a:r>
            <a:r>
              <a:rPr lang="en-US" sz="1400" dirty="0"/>
              <a:t>(1), 57. https://</a:t>
            </a:r>
            <a:r>
              <a:rPr lang="en-US" sz="1400" dirty="0" err="1"/>
              <a:t>doi.org</a:t>
            </a:r>
            <a:r>
              <a:rPr lang="en-US" sz="1400" dirty="0"/>
              <a:t>/10.1038/s41531-025-00913-4</a:t>
            </a:r>
            <a:endParaRPr lang="en-IN" sz="1400" dirty="0"/>
          </a:p>
          <a:p>
            <a:r>
              <a:rPr lang="en-US" sz="1400" i="1" dirty="0"/>
              <a:t>Datasets – BRIDGE2AI</a:t>
            </a:r>
            <a:r>
              <a:rPr lang="en-US" sz="1400" dirty="0"/>
              <a:t>. (2025, December 16). https://bridge2ai.org/datasets/</a:t>
            </a:r>
            <a:endParaRPr lang="en-IN" sz="1400" dirty="0"/>
          </a:p>
          <a:p>
            <a:r>
              <a:rPr lang="en-US" sz="1400" dirty="0"/>
              <a:t>Ma, A., Lau, K. K., &amp; Thyagarajan, D. (2020). Voice changes in Parkinson’s disease: What are they telling us? </a:t>
            </a:r>
            <a:r>
              <a:rPr lang="en-US" sz="1400" i="1" dirty="0"/>
              <a:t>Journal of Clinical Neuroscience</a:t>
            </a:r>
            <a:r>
              <a:rPr lang="en-US" sz="1400" dirty="0"/>
              <a:t>, </a:t>
            </a:r>
            <a:r>
              <a:rPr lang="en-US" sz="1400" i="1" dirty="0"/>
              <a:t>72</a:t>
            </a:r>
            <a:r>
              <a:rPr lang="en-US" sz="1400" dirty="0"/>
              <a:t>, 1–7. https://</a:t>
            </a:r>
            <a:r>
              <a:rPr lang="en-US" sz="1400" dirty="0" err="1"/>
              <a:t>doi.org</a:t>
            </a:r>
            <a:r>
              <a:rPr lang="en-US" sz="1400" dirty="0"/>
              <a:t>/10.1016/j.jocn.2019.12.029</a:t>
            </a:r>
            <a:endParaRPr lang="en-IN" sz="1400" dirty="0"/>
          </a:p>
          <a:p>
            <a:r>
              <a:rPr lang="en-US" sz="1400" dirty="0"/>
              <a:t>Naeem, I., Ditta, A., Mazhar, T., Anwar, M., Saeed, M. M., &amp; Hamam, H. (2025). Voice biomarkers as prognostic indicators for Parkinson’s disease using machine learning techniques. </a:t>
            </a:r>
            <a:r>
              <a:rPr lang="en-US" sz="1400" i="1" dirty="0"/>
              <a:t>Scientific Reports</a:t>
            </a:r>
            <a:r>
              <a:rPr lang="en-US" sz="1400" dirty="0"/>
              <a:t>, </a:t>
            </a:r>
            <a:r>
              <a:rPr lang="en-US" sz="1400" i="1" dirty="0"/>
              <a:t>15</a:t>
            </a:r>
            <a:r>
              <a:rPr lang="en-US" sz="1400" dirty="0"/>
              <a:t>(1), 12129. https://</a:t>
            </a:r>
            <a:r>
              <a:rPr lang="en-US" sz="1400" dirty="0" err="1"/>
              <a:t>doi.org</a:t>
            </a:r>
            <a:r>
              <a:rPr lang="en-US" sz="1400" dirty="0"/>
              <a:t>/10.1038/s41598-025-96950-3</a:t>
            </a:r>
            <a:endParaRPr lang="en-IN" sz="1400" dirty="0"/>
          </a:p>
        </p:txBody>
      </p:sp>
    </p:spTree>
    <p:extLst>
      <p:ext uri="{BB962C8B-B14F-4D97-AF65-F5344CB8AC3E}">
        <p14:creationId xmlns:p14="http://schemas.microsoft.com/office/powerpoint/2010/main" val="23154551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F5C6A-9971-8097-8D25-F593EC5C33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B7F3DC-D17E-620B-5821-63D4EC9279C8}"/>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FF1430C8-5D51-5374-7192-081C02BF035D}"/>
              </a:ext>
            </a:extLst>
          </p:cNvPr>
          <p:cNvSpPr>
            <a:spLocks noGrp="1"/>
          </p:cNvSpPr>
          <p:nvPr>
            <p:ph idx="1"/>
          </p:nvPr>
        </p:nvSpPr>
        <p:spPr/>
        <p:txBody>
          <a:bodyPr/>
          <a:lstStyle/>
          <a:p>
            <a:r>
              <a:rPr lang="en-US" sz="1400" dirty="0"/>
              <a:t>Rusz, J., Krack, P., &amp; </a:t>
            </a:r>
            <a:r>
              <a:rPr lang="en-US" sz="1400" dirty="0" err="1"/>
              <a:t>Tripoliti</a:t>
            </a:r>
            <a:r>
              <a:rPr lang="en-US" sz="1400" dirty="0"/>
              <a:t>, E. (2024). From prodromal stages to clinical trials: The promise of digital speech biomarkers in Parkinson’s disease. </a:t>
            </a:r>
            <a:r>
              <a:rPr lang="en-US" sz="1400" i="1" dirty="0"/>
              <a:t>Neuroscience &amp; Biobehavioral Reviews</a:t>
            </a:r>
            <a:r>
              <a:rPr lang="en-US" sz="1400" dirty="0"/>
              <a:t>, </a:t>
            </a:r>
            <a:r>
              <a:rPr lang="en-US" sz="1400" i="1" dirty="0"/>
              <a:t>167</a:t>
            </a:r>
            <a:r>
              <a:rPr lang="en-US" sz="1400" dirty="0"/>
              <a:t>, 105922. https://</a:t>
            </a:r>
            <a:r>
              <a:rPr lang="en-US" sz="1400" dirty="0" err="1"/>
              <a:t>doi.org</a:t>
            </a:r>
            <a:r>
              <a:rPr lang="en-US" sz="1400" dirty="0"/>
              <a:t>/10.1016/j.neubiorev.2024.105922</a:t>
            </a:r>
            <a:endParaRPr lang="en-IN" sz="1400" dirty="0"/>
          </a:p>
          <a:p>
            <a:r>
              <a:rPr lang="en-US" sz="1400" dirty="0"/>
              <a:t>Shen, M., </a:t>
            </a:r>
            <a:r>
              <a:rPr lang="en-US" sz="1400" dirty="0" err="1"/>
              <a:t>Mortezaagha</a:t>
            </a:r>
            <a:r>
              <a:rPr lang="en-US" sz="1400" dirty="0"/>
              <a:t>, P., &amp; </a:t>
            </a:r>
            <a:r>
              <a:rPr lang="en-US" sz="1400" dirty="0" err="1"/>
              <a:t>Rahgozar</a:t>
            </a:r>
            <a:r>
              <a:rPr lang="en-US" sz="1400" dirty="0"/>
              <a:t>, A. (2025). Explainable artificial intelligence to diagnose early Parkinson’s disease via voice analysis. </a:t>
            </a:r>
            <a:r>
              <a:rPr lang="en-US" sz="1400" i="1" dirty="0"/>
              <a:t>Scientific Reports</a:t>
            </a:r>
            <a:r>
              <a:rPr lang="en-US" sz="1400" dirty="0"/>
              <a:t>, </a:t>
            </a:r>
            <a:r>
              <a:rPr lang="en-US" sz="1400" i="1" dirty="0"/>
              <a:t>15</a:t>
            </a:r>
            <a:r>
              <a:rPr lang="en-US" sz="1400" dirty="0"/>
              <a:t>(1), 11687. https://</a:t>
            </a:r>
            <a:r>
              <a:rPr lang="en-US" sz="1400" dirty="0" err="1"/>
              <a:t>doi.org</a:t>
            </a:r>
            <a:r>
              <a:rPr lang="en-US" sz="1400" dirty="0"/>
              <a:t>/10.1038/s41598-025-96575-6</a:t>
            </a:r>
            <a:endParaRPr lang="en-IN" sz="1400" dirty="0"/>
          </a:p>
          <a:p>
            <a:r>
              <a:rPr lang="en-US" sz="1400" dirty="0" err="1"/>
              <a:t>Tsanas</a:t>
            </a:r>
            <a:r>
              <a:rPr lang="en-US" sz="1400" dirty="0"/>
              <a:t>, A., &amp; Arora, S. (2022). Data-Driven Subtyping of Parkinson’s Using Acoustic Analysis of Sustained Vowels and Cluster Analysis: Findings in the Parkinson’s Voice Initiative Study. </a:t>
            </a:r>
            <a:r>
              <a:rPr lang="en-US" sz="1400" i="1" dirty="0"/>
              <a:t>SN Computer Science</a:t>
            </a:r>
            <a:r>
              <a:rPr lang="en-US" sz="1400" dirty="0"/>
              <a:t>, </a:t>
            </a:r>
            <a:r>
              <a:rPr lang="en-US" sz="1400" i="1" dirty="0"/>
              <a:t>3</a:t>
            </a:r>
            <a:r>
              <a:rPr lang="en-US" sz="1400" dirty="0"/>
              <a:t>(3), 232. https://</a:t>
            </a:r>
            <a:r>
              <a:rPr lang="en-US" sz="1400" dirty="0" err="1"/>
              <a:t>doi.org</a:t>
            </a:r>
            <a:r>
              <a:rPr lang="en-US" sz="1400" dirty="0"/>
              <a:t>/10.1007/s42979-022-01123-y</a:t>
            </a:r>
            <a:endParaRPr lang="en-IN" sz="1400" dirty="0"/>
          </a:p>
          <a:p>
            <a:r>
              <a:rPr lang="en-US" sz="1400" dirty="0"/>
              <a:t>Wayland, R., Meyer, R., &amp; Tang, K. (2025). Speech Markers of Parkinson’s Disease: Phonological Features and Acoustic Measures. </a:t>
            </a:r>
            <a:r>
              <a:rPr lang="en-US" sz="1400" i="1" dirty="0"/>
              <a:t>Brain Sciences</a:t>
            </a:r>
            <a:r>
              <a:rPr lang="en-US" sz="1400" dirty="0"/>
              <a:t>, </a:t>
            </a:r>
            <a:r>
              <a:rPr lang="en-US" sz="1400" i="1" dirty="0"/>
              <a:t>15</a:t>
            </a:r>
            <a:r>
              <a:rPr lang="en-US" sz="1400" dirty="0"/>
              <a:t>(11), 1162. https://</a:t>
            </a:r>
            <a:r>
              <a:rPr lang="en-US" sz="1400" dirty="0" err="1"/>
              <a:t>doi.org</a:t>
            </a:r>
            <a:r>
              <a:rPr lang="en-US" sz="1400" dirty="0"/>
              <a:t>/10.3390/brainsci15111162</a:t>
            </a:r>
            <a:endParaRPr lang="en-IN" sz="1400" dirty="0"/>
          </a:p>
          <a:p>
            <a:r>
              <a:rPr lang="en-US" sz="1400" dirty="0"/>
              <a:t>Xu, H., Xie, W., Pang, M., Li, Y., Jin, L., Huang, F., &amp; Shao, X. (2025). Non-invasive detection of Parkinson’s disease based on speech analysis and interpretable machine learning. </a:t>
            </a:r>
            <a:r>
              <a:rPr lang="en-US" sz="1400" i="1" dirty="0"/>
              <a:t>Frontiers in Aging Neuroscience</a:t>
            </a:r>
            <a:r>
              <a:rPr lang="en-US" sz="1400" dirty="0"/>
              <a:t>, </a:t>
            </a:r>
            <a:r>
              <a:rPr lang="en-US" sz="1400" i="1" dirty="0"/>
              <a:t>17</a:t>
            </a:r>
            <a:r>
              <a:rPr lang="en-US" sz="1400" dirty="0"/>
              <a:t>. https://</a:t>
            </a:r>
            <a:r>
              <a:rPr lang="en-US" sz="1400" dirty="0" err="1"/>
              <a:t>doi.org</a:t>
            </a:r>
            <a:r>
              <a:rPr lang="en-US" sz="1400" dirty="0"/>
              <a:t>/10.3389/fnagi.2025.1586273</a:t>
            </a:r>
            <a:endParaRPr lang="en-IN" sz="1400" dirty="0"/>
          </a:p>
          <a:p>
            <a:r>
              <a:rPr lang="en-US" sz="1400" dirty="0"/>
              <a:t>Yang, S., Wang, F., Yang, L., Xu, F., Luo, M., Chen, X., Feng, X., &amp; Zou, X. (2020). The physical significance of acoustic parameters and its clinical significance of dysarthria in Parkinson’s disease. </a:t>
            </a:r>
            <a:r>
              <a:rPr lang="en-US" sz="1400" i="1" dirty="0"/>
              <a:t>Scientific Reports</a:t>
            </a:r>
            <a:r>
              <a:rPr lang="en-US" sz="1400" dirty="0"/>
              <a:t>, </a:t>
            </a:r>
            <a:r>
              <a:rPr lang="en-US" sz="1400" i="1" dirty="0"/>
              <a:t>10</a:t>
            </a:r>
            <a:r>
              <a:rPr lang="en-US" sz="1400" dirty="0"/>
              <a:t>(1), 11776. https://</a:t>
            </a:r>
            <a:r>
              <a:rPr lang="en-US" sz="1400" dirty="0" err="1"/>
              <a:t>doi.org</a:t>
            </a:r>
            <a:r>
              <a:rPr lang="en-US" sz="1400" dirty="0"/>
              <a:t>/10.1038/s41598-020-68754-0</a:t>
            </a:r>
            <a:endParaRPr lang="en-IN" sz="1400" dirty="0"/>
          </a:p>
          <a:p>
            <a:endParaRPr lang="en-US" sz="1400" dirty="0"/>
          </a:p>
        </p:txBody>
      </p:sp>
    </p:spTree>
    <p:extLst>
      <p:ext uri="{BB962C8B-B14F-4D97-AF65-F5344CB8AC3E}">
        <p14:creationId xmlns:p14="http://schemas.microsoft.com/office/powerpoint/2010/main" val="883867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6" id="{B6E62BC4-1EB5-CF47-B3B4-D36BE93DF5D2}" vid="{5496DC32-C840-F44C-97C4-5C6B526B6F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UTHH-McGovern-Blue-Orange</Template>
  <TotalTime>26276</TotalTime>
  <Words>2850</Words>
  <Application>Microsoft Macintosh PowerPoint</Application>
  <PresentationFormat>Widescreen</PresentationFormat>
  <Paragraphs>313</Paragraphs>
  <Slides>37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Aptos</vt:lpstr>
      <vt:lpstr>Arial</vt:lpstr>
      <vt:lpstr>Office Theme</vt:lpstr>
      <vt:lpstr>BMI 6319 Midterm Proposal</vt:lpstr>
      <vt:lpstr>High-Level Overview &amp; Aims</vt:lpstr>
      <vt:lpstr>Team Members</vt:lpstr>
      <vt:lpstr>Plain Language Narrative</vt:lpstr>
      <vt:lpstr>Innovation</vt:lpstr>
      <vt:lpstr>Dataset Overview</vt:lpstr>
      <vt:lpstr>Phenotypes in the Dataset</vt:lpstr>
      <vt:lpstr>Dimensionality and Embedding Insights</vt:lpstr>
      <vt:lpstr>PowerPoint Presentation</vt:lpstr>
      <vt:lpstr>PowerPoint Presentation</vt:lpstr>
      <vt:lpstr>Insights</vt:lpstr>
      <vt:lpstr>Overall Analysis Pipeline</vt:lpstr>
      <vt:lpstr>Feature Clustering Methodology</vt:lpstr>
      <vt:lpstr>Cluster Aggregation Strategy</vt:lpstr>
      <vt:lpstr>Model Training and Evaluation Framework</vt:lpstr>
      <vt:lpstr>Baseline Performance</vt:lpstr>
      <vt:lpstr>Baseline performance – per recording</vt:lpstr>
      <vt:lpstr>Baseline performance – per patient</vt:lpstr>
      <vt:lpstr>Cluster-Aggregated Feature Results</vt:lpstr>
      <vt:lpstr>PowerPoint Presentation</vt:lpstr>
      <vt:lpstr>PowerPoint Presentation</vt:lpstr>
      <vt:lpstr>Patient-Level Performance</vt:lpstr>
      <vt:lpstr>PowerPoint Presentation</vt:lpstr>
      <vt:lpstr>PowerPoint Presentation</vt:lpstr>
      <vt:lpstr>PowerPoint Presentation</vt:lpstr>
      <vt:lpstr>Interpretability and Cluster Characterization</vt:lpstr>
      <vt:lpstr>Dominant Acoustic Clusters: Speech Rate, Loudness, and Articulation</vt:lpstr>
      <vt:lpstr>Phonation Stability, Pitch, and Spectral Structure</vt:lpstr>
      <vt:lpstr>Timing, Variability, and Secondary Motor Effects</vt:lpstr>
      <vt:lpstr>Discussion</vt:lpstr>
      <vt:lpstr>Discussion</vt:lpstr>
      <vt:lpstr>Potential Pitfalls</vt:lpstr>
      <vt:lpstr>Alternative and Complementary Approaches</vt:lpstr>
      <vt:lpstr>Future Directions</vt:lpstr>
      <vt:lpstr>Summary and Take-Home Message</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Prichard, Roy G</dc:creator>
  <cp:lastModifiedBy>Singh, Uday P</cp:lastModifiedBy>
  <cp:revision>79</cp:revision>
  <dcterms:created xsi:type="dcterms:W3CDTF">2023-03-10T15:22:08Z</dcterms:created>
  <dcterms:modified xsi:type="dcterms:W3CDTF">2026-02-18T17:08:16Z</dcterms:modified>
</cp:coreProperties>
</file>